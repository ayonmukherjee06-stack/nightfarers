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F0FF"/>
                </a:solidFill>
                <a:latin typeface="Arial"/>
              </a:rPr>
              <a:t>⚡ YUVA MEGATHON 2026 — SUBMISSION PORTFOLIO | DOMAIN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Arial Black"/>
              </a:rPr>
              <a:t>MASTERYFLOW</a:t>
            </a:r>
          </a:p>
          <a:p>
            <a:r>
              <a:rPr sz="2000">
                <a:solidFill>
                  <a:srgbClr val="38BDF8"/>
                </a:solidFill>
                <a:latin typeface="Arial"/>
              </a:rPr>
              <a:t>Explainable Adaptive Learning &amp; Cognitive Intervention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74720"/>
            <a:ext cx="2560320" cy="2194560"/>
          </a:xfrm>
          <a:prstGeom prst="roundRect">
            <a:avLst/>
          </a:prstGeom>
          <a:solidFill>
            <a:srgbClr val="121C33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11879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0F0FF"/>
                </a:solidFill>
                <a:latin typeface="Arial"/>
              </a:rPr>
              <a:t>🧠 Bayesian Knowledge Tracing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Probabilistic student mastery tracking with uncertainty bounds (0-100%).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3474720"/>
            <a:ext cx="2560320" cy="2194560"/>
          </a:xfrm>
          <a:prstGeom prst="roundRect">
            <a:avLst/>
          </a:prstGeom>
          <a:solidFill>
            <a:srgbClr val="121C33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3611879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0F0FF"/>
                </a:solidFill>
                <a:latin typeface="Arial"/>
              </a:rPr>
              <a:t>🛡️ Anti-Gaming Telemetry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402336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Latency-based rapid guessing clamp (w=0.00 for &lt;3.0s attempts).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3474720"/>
            <a:ext cx="2560320" cy="2194560"/>
          </a:xfrm>
          <a:prstGeom prst="roundRect">
            <a:avLst/>
          </a:prstGeom>
          <a:solidFill>
            <a:srgbClr val="121C33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3611879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0F0FF"/>
                </a:solidFill>
                <a:latin typeface="Arial"/>
              </a:rPr>
              <a:t>🌌 3D Holographic Universe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402336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60 FPS WebGL Three.js interactive galaxy showing live mastery flow.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3474720"/>
            <a:ext cx="2560320" cy="2194560"/>
          </a:xfrm>
          <a:prstGeom prst="roundRect">
            <a:avLst/>
          </a:prstGeom>
          <a:solidFill>
            <a:srgbClr val="121C33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89136" y="3611879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0F0FF"/>
                </a:solidFill>
                <a:latin typeface="Arial"/>
              </a:rPr>
              <a:t>📐 Zero-Hallucination Logic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9136" y="402336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Deterministic 6-rule decision hierarchy with Test 8 reproducibility.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03504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Calibri"/>
              </a:rPr>
              <a:t>Pure Deterministic Python Engine  •  FastAPI Microservice (Port 8000)  •  Interactive Streamlit UI (Port 8501)  •  SQLite Persistence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00F0FF"/>
                </a:solidFill>
                <a:latin typeface="Arial"/>
              </a:rPr>
              <a:t>YUVA MEGATHON 2026  |  DOMAIN 04: INTELLIGENT EDUCATIONAL SYSTEMS  |  CHALLENGE IN ONE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The Problem: Digital Learning Platforms Are Just Content Libraries with Progress Bars</a:t>
            </a:r>
          </a:p>
          <a:p>
            <a:r>
              <a:rPr sz="1000">
                <a:solidFill>
                  <a:srgbClr val="94A3B8"/>
                </a:solidFill>
                <a:latin typeface="Arial"/>
              </a:rPr>
              <a:t>Most platforms know what a student clicked, but NOT whether they genuinely mastered foundational prerequisites.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60320" cy="4023360"/>
          </a:xfrm>
          <a:prstGeom prst="roundRect">
            <a:avLst/>
          </a:prstGeom>
          <a:solidFill>
            <a:srgbClr val="121C33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0F0FF"/>
                </a:solidFill>
                <a:latin typeface="Arial"/>
              </a:rPr>
              <a:t>❌ Passive Checkbox 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194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4A3B8"/>
                </a:solidFill>
                <a:latin typeface="Calibri"/>
              </a:rPr>
              <a:t>Traditional platforms track video watch-time and clicks. They assume 100% completion equals true conceptual understanding.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463040"/>
            <a:ext cx="2560320" cy="4023360"/>
          </a:xfrm>
          <a:prstGeom prst="roundRect">
            <a:avLst/>
          </a:prstGeom>
          <a:solidFill>
            <a:srgbClr val="121C33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16002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0F0FF"/>
                </a:solidFill>
                <a:latin typeface="Arial"/>
              </a:rPr>
              <a:t>❌ Broken Prerequisite Chains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2194560"/>
            <a:ext cx="2194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4A3B8"/>
                </a:solidFill>
                <a:latin typeface="Calibri"/>
              </a:rPr>
              <a:t>Students jump straight into advanced topics (e.g. Proportions) while foundational gaps (Equivalent Fractions) remain unaddressed.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463040"/>
            <a:ext cx="2560320" cy="4023360"/>
          </a:xfrm>
          <a:prstGeom prst="roundRect">
            <a:avLst/>
          </a:prstGeom>
          <a:solidFill>
            <a:srgbClr val="121C33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16002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0F0FF"/>
                </a:solidFill>
                <a:latin typeface="Arial"/>
              </a:rPr>
              <a:t>❌ Guessing &amp; Gaming Exploits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194560"/>
            <a:ext cx="2194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4A3B8"/>
                </a:solidFill>
                <a:latin typeface="Calibri"/>
              </a:rPr>
              <a:t>Students rapidly spam multiple-choice options in 1-2 seconds until they guess right, fooling basic scoring algorithms.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463040"/>
            <a:ext cx="2560320" cy="4023360"/>
          </a:xfrm>
          <a:prstGeom prst="roundRect">
            <a:avLst/>
          </a:prstGeom>
          <a:solidFill>
            <a:srgbClr val="121C33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89136" y="16002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0F0FF"/>
                </a:solidFill>
                <a:latin typeface="Arial"/>
              </a:rPr>
              <a:t>❌ Black-Box AI Hallucinations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9136" y="2194560"/>
            <a:ext cx="2194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4A3B8"/>
                </a:solidFill>
                <a:latin typeface="Calibri"/>
              </a:rPr>
              <a:t>LLM-based tutors give non-deterministic, inconsistent advice that teachers cannot audit or mathematically verify.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669280"/>
            <a:ext cx="10728655" cy="731520"/>
          </a:xfrm>
          <a:prstGeom prst="roundRect">
            <a:avLst/>
          </a:prstGeom>
          <a:solidFill>
            <a:srgbClr val="180F23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76072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F43F5E"/>
                </a:solidFill>
                <a:latin typeface="Arial"/>
              </a:rPr>
              <a:t>🚨 Core Challenge: Build the decision layer that maintains a probabilistic learner model, enforces prerequisite DAG hierarchy, stops gaming, and chooses the next best 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00F0FF"/>
                </a:solidFill>
                <a:latin typeface="Arial"/>
              </a:rPr>
              <a:t>YUVA MEGATHON 2026  |  DOMAIN 04: INTELLIGENT EDUCATIONAL SYSTEMS  | 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MasteryFlow: The 5-Stage Closed-Loop Cognitive Architecture</a:t>
            </a:r>
          </a:p>
          <a:p>
            <a:r>
              <a:rPr sz="1000">
                <a:solidFill>
                  <a:srgbClr val="94A3B8"/>
                </a:solidFill>
                <a:latin typeface="Arial"/>
              </a:rPr>
              <a:t>Every interaction flows through a rigorous, explainable mathematical pipeline with zero randomness.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057400" cy="4023360"/>
          </a:xfrm>
          <a:prstGeom prst="roundRect">
            <a:avLst/>
          </a:prstGeom>
          <a:solidFill>
            <a:srgbClr val="121C33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0F0FF"/>
                </a:solidFill>
                <a:latin typeface="Arial"/>
              </a:rPr>
              <a:t>STAGE 1: Ingest Attempt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1783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94A3B8"/>
                </a:solidFill>
                <a:latin typeface="Calibri"/>
              </a:rPr>
              <a:t>Captures response time (ms), hint counts (0-3), attempt number, and metacognitive confidence.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1" y="1463040"/>
            <a:ext cx="2057400" cy="4023360"/>
          </a:xfrm>
          <a:prstGeom prst="roundRect">
            <a:avLst/>
          </a:prstGeom>
          <a:solidFill>
            <a:srgbClr val="121C33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90672" y="160020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0F0FF"/>
                </a:solidFill>
                <a:latin typeface="Arial"/>
              </a:rPr>
              <a:t>STAGE 2: Multi-Signal 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4951" y="2103120"/>
            <a:ext cx="1783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94A3B8"/>
                </a:solidFill>
                <a:latin typeface="Calibri"/>
              </a:rPr>
              <a:t>Calculates evidence weight w in [0, 1]. Clamps w=0.00 if time &lt; 3.0s to neutralize rapid guessing.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4064" y="1463040"/>
            <a:ext cx="2057400" cy="4023360"/>
          </a:xfrm>
          <a:prstGeom prst="roundRect">
            <a:avLst/>
          </a:prstGeom>
          <a:solidFill>
            <a:srgbClr val="121C33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66944" y="160020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0F0FF"/>
                </a:solidFill>
                <a:latin typeface="Arial"/>
              </a:rPr>
              <a:t>STAGE 3: BKT Posterior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1224" y="2103120"/>
            <a:ext cx="1783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94A3B8"/>
                </a:solidFill>
                <a:latin typeface="Calibri"/>
              </a:rPr>
              <a:t>Updates latent mastery p and calculates uncertainty standard error using Bayesian probabilities.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336" y="1463040"/>
            <a:ext cx="2057400" cy="4023360"/>
          </a:xfrm>
          <a:prstGeom prst="roundRect">
            <a:avLst/>
          </a:prstGeom>
          <a:solidFill>
            <a:srgbClr val="121C33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43215" y="160020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0F0FF"/>
                </a:solidFill>
                <a:latin typeface="Arial"/>
              </a:rPr>
              <a:t>STAGE 4: DAG Ceilings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97496" y="2103120"/>
            <a:ext cx="1783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94A3B8"/>
                </a:solidFill>
                <a:latin typeface="Calibri"/>
              </a:rPr>
              <a:t>Applies prerequisite capping: downstream p_eff &lt;= min(p_raw, prereq + Δ) to prevent skipping basics.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36608" y="1463040"/>
            <a:ext cx="2057400" cy="4023360"/>
          </a:xfrm>
          <a:prstGeom prst="roundRect">
            <a:avLst/>
          </a:prstGeom>
          <a:solidFill>
            <a:srgbClr val="121C33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19488" y="160020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0F0FF"/>
                </a:solidFill>
                <a:latin typeface="Arial"/>
              </a:rPr>
              <a:t>STAGE 5: Glass-Box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73768" y="2103120"/>
            <a:ext cx="1783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94A3B8"/>
                </a:solidFill>
                <a:latin typeface="Calibri"/>
              </a:rPr>
              <a:t>Evaluates 6-rule hierarchy, triggers next pedagogical step, and displays plain-English 'Why This Next?'.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669280"/>
            <a:ext cx="10728655" cy="731520"/>
          </a:xfrm>
          <a:prstGeom prst="roundRect">
            <a:avLst/>
          </a:prstGeom>
          <a:solidFill>
            <a:srgbClr val="0F1E23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76072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10B981"/>
                </a:solidFill>
                <a:latin typeface="Arial"/>
              </a:rPr>
              <a:t>✅ Result: Closed-loop mastery verification where students advance only when genuine cognitive proficiency is mathematically established.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00F0FF"/>
                </a:solidFill>
                <a:latin typeface="Arial"/>
              </a:rPr>
              <a:t>YUVA MEGATHON 2026  |  DOMAIN 04: INTELLIGENT EDUCATIONAL SYSTEMS  |  INNOVATION &amp; 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Architectural Edge: 4 Breakthroughs in Educational AI</a:t>
            </a:r>
          </a:p>
          <a:p>
            <a:r>
              <a:rPr sz="1000">
                <a:solidFill>
                  <a:srgbClr val="94A3B8"/>
                </a:solidFill>
                <a:latin typeface="Arial"/>
              </a:rPr>
              <a:t>Why MasteryFlow fundamentally outperforms both traditional LMS platforms and LLM chatbots.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42255" cy="2103120"/>
          </a:xfrm>
          <a:prstGeom prst="roundRect">
            <a:avLst/>
          </a:prstGeom>
          <a:solidFill>
            <a:srgbClr val="121C33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764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0F0FF"/>
                </a:solidFill>
                <a:latin typeface="Arial"/>
              </a:rPr>
              <a:t>1. Zero-Hallucination Determinism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8764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94A3B8"/>
                </a:solidFill>
                <a:latin typeface="Calibri"/>
              </a:rPr>
              <a:t>• Pure algorithmic decision layer in Python
• 0.00% execution variance (Test 8 snapshot proof)
• &lt;5ms latency vs 2000ms LLM roundtrips
• Mathematically verifiable pedagogical 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42255" cy="2103120"/>
          </a:xfrm>
          <a:prstGeom prst="roundRect">
            <a:avLst/>
          </a:prstGeom>
          <a:solidFill>
            <a:srgbClr val="121C33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764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0F0FF"/>
                </a:solidFill>
                <a:latin typeface="Arial"/>
              </a:rPr>
              <a:t>2. 3D WebGL Knowledge Galaxy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8764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94A3B8"/>
                </a:solidFill>
                <a:latin typeface="Calibri"/>
              </a:rPr>
              <a:t>• Hardware-accelerated 60 FPS Three.js rendering
• Traveling laser pulses represent prerequisite flow
• Raycast click-to-inspect cognitive telemetry
• Gamified tech-tree visualization for students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242255" cy="2103120"/>
          </a:xfrm>
          <a:prstGeom prst="roundRect">
            <a:avLst/>
          </a:prstGeom>
          <a:solidFill>
            <a:srgbClr val="121C33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77640"/>
            <a:ext cx="48764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0F0FF"/>
                </a:solidFill>
                <a:latin typeface="Arial"/>
              </a:rPr>
              <a:t>3. Anti-Gaming Latency Clamping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43400"/>
            <a:ext cx="48764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94A3B8"/>
                </a:solidFill>
                <a:latin typeface="Calibri"/>
              </a:rPr>
              <a:t>• Multi-signal evidence weighting (w in [0, 1])
• 3-second speed threshold prevents lucky guesses
• Hint usage penalties (3 hints -&gt; w=0.25)
• Metacognitive self-reported confidence checks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840480"/>
            <a:ext cx="5242255" cy="2103120"/>
          </a:xfrm>
          <a:prstGeom prst="roundRect">
            <a:avLst/>
          </a:prstGeom>
          <a:solidFill>
            <a:srgbClr val="121C33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977640"/>
            <a:ext cx="48764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0F0FF"/>
                </a:solidFill>
                <a:latin typeface="Arial"/>
              </a:rPr>
              <a:t>4. Ebbinghaus Memory Decay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343400"/>
            <a:ext cx="48764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94A3B8"/>
                </a:solidFill>
                <a:latin typeface="Calibri"/>
              </a:rPr>
              <a:t>• Longitudinal forgetting curve: R(t) = exp(-t/S)
• Automatic Spaced Review trigger on decayed nodes
• Memory stability (S) grows upon successful recall
• Handles summer break / multi-week absence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00F0FF"/>
                </a:solidFill>
                <a:latin typeface="Arial"/>
              </a:rPr>
              <a:t>YUVA MEGATHON 2026  |  DOMAIN 04: INTELLIGENT EDUCATIONAL SYSTEMS  |  TARGET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Transforming the Educational Ecosystem for 4 Stakeholders</a:t>
            </a:r>
          </a:p>
          <a:p>
            <a:r>
              <a:rPr sz="1000">
                <a:solidFill>
                  <a:srgbClr val="94A3B8"/>
                </a:solidFill>
                <a:latin typeface="Arial"/>
              </a:rPr>
              <a:t>Designed for scalable deployment across K-12, higher education, and edtech platforms.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42255" cy="2103120"/>
          </a:xfrm>
          <a:prstGeom prst="roundRect">
            <a:avLst/>
          </a:prstGeom>
          <a:solidFill>
            <a:srgbClr val="121C33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764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0F0FF"/>
                </a:solidFill>
                <a:latin typeface="Arial"/>
              </a:rPr>
              <a:t>🎓 Students &amp; Learners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8764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94A3B8"/>
                </a:solidFill>
                <a:latin typeface="Calibri"/>
              </a:rPr>
              <a:t>• Personalized Zone of Proximal Development (ZPD) practice
• 'Why This Next?' transparent explainability removes confusion
• Interactive 1-click fraction chips and 3D galaxy rewards
• Never gets stuck on advanced topics with broken basics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42255" cy="2103120"/>
          </a:xfrm>
          <a:prstGeom prst="roundRect">
            <a:avLst/>
          </a:prstGeom>
          <a:solidFill>
            <a:srgbClr val="121C33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764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0F0FF"/>
                </a:solidFill>
                <a:latin typeface="Arial"/>
              </a:rPr>
              <a:t>👩‍🏫 Teachers &amp; Mentors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8764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94A3B8"/>
                </a:solidFill>
                <a:latin typeface="Calibri"/>
              </a:rPr>
              <a:t>• Real-time N x 10 Cohort Mastery Heatmap
• Automated Systemic Bottleneck alerts (&gt;40% struggle)
• Stuck-Learner escalation queue (&gt;3 failed attempts)
• 1-Click Human Override Console with SQLite audit log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242255" cy="2103120"/>
          </a:xfrm>
          <a:prstGeom prst="roundRect">
            <a:avLst/>
          </a:prstGeom>
          <a:solidFill>
            <a:srgbClr val="121C33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77640"/>
            <a:ext cx="48764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0F0FF"/>
                </a:solidFill>
                <a:latin typeface="Arial"/>
              </a:rPr>
              <a:t>🏫 School Administrators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43400"/>
            <a:ext cx="48764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94A3B8"/>
                </a:solidFill>
                <a:latin typeface="Calibri"/>
              </a:rPr>
              <a:t>• High-level cohort proficiency analytics and benchmarks
• Early identification of curriculum gaps before exams
• Zero cloud compute costs (runs on CPU / embedded SQLite)
• Verifiable institutional learning gains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840480"/>
            <a:ext cx="5242255" cy="2103120"/>
          </a:xfrm>
          <a:prstGeom prst="roundRect">
            <a:avLst/>
          </a:prstGeom>
          <a:solidFill>
            <a:srgbClr val="121C33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977640"/>
            <a:ext cx="48764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0F0FF"/>
                </a:solidFill>
                <a:latin typeface="Arial"/>
              </a:rPr>
              <a:t>⚖️ Evaluators &amp; Judges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343400"/>
            <a:ext cx="48764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94A3B8"/>
                </a:solidFill>
                <a:latin typeface="Calibri"/>
              </a:rPr>
              <a:t>• 100% deterministic reproducibility (Test 8 zero-variance)
• 6-Step Official Jury Live Demo presentation sequence
• 5-Judge Stress-Test suite testing all edge cases
• Open REST API with full Swagger documentation (/docs)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00F0FF"/>
                </a:solidFill>
                <a:latin typeface="Arial"/>
              </a:rPr>
              <a:t>YUVA MEGATHON 2026  |  DOMAIN 04: INTELLIGENT EDUCATIONAL SYSTEMS  |  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The 6 Pillars of the MasteryFlow Cognitive Platform</a:t>
            </a:r>
          </a:p>
          <a:p>
            <a:r>
              <a:rPr sz="1000">
                <a:solidFill>
                  <a:srgbClr val="94A3B8"/>
                </a:solidFill>
                <a:latin typeface="Arial"/>
              </a:rPr>
              <a:t>Comprehensive full-stack features addressing every aspect of adaptive learning.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9000" cy="2103120"/>
          </a:xfrm>
          <a:prstGeom prst="roundRect">
            <a:avLst/>
          </a:prstGeom>
          <a:solidFill>
            <a:srgbClr val="121C33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0F0FF"/>
                </a:solidFill>
                <a:latin typeface="Arial"/>
              </a:rPr>
              <a:t>1. BKT Psychometrics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Probabilistic latent mastery updating with Slip (10%), Guess (20%), and Transition (15%) parameters.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463040"/>
            <a:ext cx="3429000" cy="2103120"/>
          </a:xfrm>
          <a:prstGeom prst="roundRect">
            <a:avLst/>
          </a:prstGeom>
          <a:solidFill>
            <a:srgbClr val="121C33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60020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0F0FF"/>
                </a:solidFill>
                <a:latin typeface="Arial"/>
              </a:rPr>
              <a:t>2. Anti-Gaming Guard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96596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Latency tracking flags attempts &lt;3.0s, clamping evidence weight w=0.00 to neutralize rapid guessing.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463040"/>
            <a:ext cx="3429000" cy="2103120"/>
          </a:xfrm>
          <a:prstGeom prst="roundRect">
            <a:avLst/>
          </a:prstGeom>
          <a:solidFill>
            <a:srgbClr val="121C33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93023" y="160020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0F0FF"/>
                </a:solidFill>
                <a:latin typeface="Arial"/>
              </a:rPr>
              <a:t>3. 3D WebGL Galaxy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3023" y="196596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Interactive Three.js space galaxy with 360° orbit, traveling laser pulses, and raycast inspection.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80"/>
            <a:ext cx="3429000" cy="2103120"/>
          </a:xfrm>
          <a:prstGeom prst="roundRect">
            <a:avLst/>
          </a:prstGeom>
          <a:solidFill>
            <a:srgbClr val="121C33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97764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0F0FF"/>
                </a:solidFill>
                <a:latin typeface="Arial"/>
              </a:rPr>
              <a:t>4. Prerequisite DAG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4340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Acyclic graph enforcing foundational repair: downstream mastery is capped if prerequisites collapse.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0832" y="3840480"/>
            <a:ext cx="3429000" cy="2103120"/>
          </a:xfrm>
          <a:prstGeom prst="roundRect">
            <a:avLst/>
          </a:prstGeom>
          <a:solidFill>
            <a:srgbClr val="121C33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397764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0F0FF"/>
                </a:solidFill>
                <a:latin typeface="Arial"/>
              </a:rPr>
              <a:t>5. Teacher Command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434340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Cohort heatmap matrix, bottleneck detection, stuck-learner queue, and 1-click human override console.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144" y="3840480"/>
            <a:ext cx="3429000" cy="2103120"/>
          </a:xfrm>
          <a:prstGeom prst="roundRect">
            <a:avLst/>
          </a:prstGeom>
          <a:solidFill>
            <a:srgbClr val="121C33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93023" y="397764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0F0FF"/>
                </a:solidFill>
                <a:latin typeface="Arial"/>
              </a:rPr>
              <a:t>6. Cold-Start Entropy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3023" y="434340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6-question diagnostic sequence using Maximum Uncertainty sampling to map new students in 6 clicks.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00F0FF"/>
                </a:solidFill>
                <a:latin typeface="Arial"/>
              </a:rPr>
              <a:t>YUVA MEGATHON 2026  |  DOMAIN 04: INTELLIGENT EDUCATIONAL SYSTEMS  | 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Modern Full-Stack Architecture: High-Performance &amp; Deterministic</a:t>
            </a:r>
          </a:p>
          <a:p>
            <a:r>
              <a:rPr sz="1000">
                <a:solidFill>
                  <a:srgbClr val="94A3B8"/>
                </a:solidFill>
                <a:latin typeface="Arial"/>
              </a:rPr>
              <a:t>Engineered for sub-5ms decision execution, zero hallucination risk, and cross-platform flexibility.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60320" cy="4754880"/>
          </a:xfrm>
          <a:prstGeom prst="roundRect">
            <a:avLst/>
          </a:prstGeom>
          <a:solidFill>
            <a:srgbClr val="121C33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0F0FF"/>
                </a:solidFill>
                <a:latin typeface="Arial"/>
              </a:rPr>
              <a:t>Frontend &amp; Visualization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2286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• Python Streamlit 1.30+ (Reactive UI)
• Three.js r128 (WebGL 3D Galaxy, 60 FPS)
• Custom CSS3 Glassmorphism System
• KaTeX LaTeX Fraction Rendering
• Dynamic 1-Click Math Input Chips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463040"/>
            <a:ext cx="2560320" cy="4754880"/>
          </a:xfrm>
          <a:prstGeom prst="roundRect">
            <a:avLst/>
          </a:prstGeom>
          <a:solidFill>
            <a:srgbClr val="121C33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16002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0F0FF"/>
                </a:solidFill>
                <a:latin typeface="Arial"/>
              </a:rPr>
              <a:t>Cognitive Engine &amp; 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2103120"/>
            <a:ext cx="2286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• Pure Python 3.10+ Decision Layer
• Bayesian Knowledge Tracing (BKT)
• Shannon Entropy Diagnostic Sampling
• Ebbinghaus Exponential Memory Decay
• DAG Topological Knowledge Graph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463040"/>
            <a:ext cx="2560320" cy="4754880"/>
          </a:xfrm>
          <a:prstGeom prst="roundRect">
            <a:avLst/>
          </a:prstGeom>
          <a:solidFill>
            <a:srgbClr val="121C33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16002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0F0FF"/>
                </a:solidFill>
                <a:latin typeface="Arial"/>
              </a:rPr>
              <a:t>Backend &amp; Microservice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2103120"/>
            <a:ext cx="2286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• FastAPI High-Performance Framework
• Uvicorn ASGI Server (Port 8000)
• Pydantic v2 Schema Validation
• Auto-Generated OpenAPI Docs (/docs)
• CORS Enabled for Multi-Client Support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463040"/>
            <a:ext cx="2560320" cy="4754880"/>
          </a:xfrm>
          <a:prstGeom prst="roundRect">
            <a:avLst/>
          </a:prstGeom>
          <a:solidFill>
            <a:srgbClr val="121C33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89136" y="16002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0F0FF"/>
                </a:solidFill>
                <a:latin typeface="Arial"/>
              </a:rPr>
              <a:t>Persistence &amp; 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3416" y="2103120"/>
            <a:ext cx="2286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• SQLite 3 Relational Database Engine
• 9 Normalized Relational Tables
• ACID Transaction &amp; Foreign Key Safety
• Immutable Audit Log Trail
• Parameterized Safe Query Interface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00F0FF"/>
                </a:solidFill>
                <a:latin typeface="Arial"/>
              </a:rPr>
              <a:t>YUVA MEGATHON 2026  |  DOMAIN 04: INTELLIGENT EDUCATIONAL SYSTEMS  |  ENGINEERING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Validated Implementation: 41/41 Unit Tests &amp; 8 Cognitive Profiles</a:t>
            </a:r>
          </a:p>
          <a:p>
            <a:r>
              <a:rPr sz="1000">
                <a:solidFill>
                  <a:srgbClr val="94A3B8"/>
                </a:solidFill>
                <a:latin typeface="Arial"/>
              </a:rPr>
              <a:t>Production-ready codebase thoroughly verified across psychometrics, database, and API layers.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60320" cy="2377440"/>
          </a:xfrm>
          <a:prstGeom prst="roundRect">
            <a:avLst/>
          </a:prstGeom>
          <a:solidFill>
            <a:srgbClr val="121C33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2377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Arial Black"/>
              </a:rPr>
              <a:t>41 / 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Pytest Suite Passing
</a:t>
            </a:r>
          </a:p>
          <a:p>
            <a:pPr algn="ctr"/>
            <a:r>
              <a:rPr sz="950">
                <a:solidFill>
                  <a:srgbClr val="94A3B8"/>
                </a:solidFill>
                <a:latin typeface="Calibri"/>
              </a:rPr>
              <a:t>100% test coverage across BKT math, DAG cycles, and API contracts.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463040"/>
            <a:ext cx="2560320" cy="2377440"/>
          </a:xfrm>
          <a:prstGeom prst="roundRect">
            <a:avLst/>
          </a:prstGeom>
          <a:solidFill>
            <a:srgbClr val="121C33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7872" y="1645920"/>
            <a:ext cx="2377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00F0FF"/>
                </a:solidFill>
                <a:latin typeface="Arial Black"/>
              </a:rPr>
              <a:t>&lt; 5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237744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Decision Engine Latency
</a:t>
            </a:r>
          </a:p>
          <a:p>
            <a:pPr algn="ctr"/>
            <a:r>
              <a:rPr sz="950">
                <a:solidFill>
                  <a:srgbClr val="94A3B8"/>
                </a:solidFill>
                <a:latin typeface="Calibri"/>
              </a:rPr>
              <a:t>Sub-5ms deterministic rule execution vs 2000ms LLM roundtrips.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463040"/>
            <a:ext cx="2560320" cy="2377440"/>
          </a:xfrm>
          <a:prstGeom prst="roundRect">
            <a:avLst/>
          </a:prstGeom>
          <a:solidFill>
            <a:srgbClr val="121C33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2783" y="1645920"/>
            <a:ext cx="2377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8B5CF6"/>
                </a:solidFill>
                <a:latin typeface="Arial Black"/>
              </a:rPr>
              <a:t>8 Profiles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237744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Pre-Seeded Cognitive Archetypes
</a:t>
            </a:r>
          </a:p>
          <a:p>
            <a:pPr algn="ctr"/>
            <a:r>
              <a:rPr sz="950">
                <a:solidFill>
                  <a:srgbClr val="94A3B8"/>
                </a:solidFill>
                <a:latin typeface="Calibri"/>
              </a:rPr>
              <a:t>Rich profiles covering Top Performers, Stuck Learners, and Decayed Memories.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463040"/>
            <a:ext cx="2560320" cy="2377440"/>
          </a:xfrm>
          <a:prstGeom prst="roundRect">
            <a:avLst/>
          </a:prstGeom>
          <a:solidFill>
            <a:srgbClr val="121C33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97696" y="1645920"/>
            <a:ext cx="2377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59E0B"/>
                </a:solidFill>
                <a:latin typeface="Arial Black"/>
              </a:rPr>
              <a:t>50 Items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3416" y="237744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Parameterized Question Bank
</a:t>
            </a:r>
          </a:p>
          <a:p>
            <a:pPr algn="ctr"/>
            <a:r>
              <a:rPr sz="950">
                <a:solidFill>
                  <a:srgbClr val="94A3B8"/>
                </a:solidFill>
                <a:latin typeface="Calibri"/>
              </a:rPr>
              <a:t>Curated math items across C1-C10 with progressive hints and transfer challenges.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14800"/>
            <a:ext cx="10728655" cy="2103120"/>
          </a:xfrm>
          <a:prstGeom prst="roundRect">
            <a:avLst/>
          </a:prstGeom>
          <a:solidFill>
            <a:srgbClr val="121C33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5196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0F0FF"/>
                </a:solidFill>
                <a:latin typeface="Arial"/>
              </a:rPr>
              <a:t>⚡ Test 8 Mathematical Reproducibility Proof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72000"/>
            <a:ext cx="103628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94A3B8"/>
                </a:solidFill>
                <a:latin typeface="Calibri"/>
              </a:rPr>
              <a:t>• Stored Snapshot JSON: Serializes exact student state vector (latent p, effective p_eff, stability, active override, virtual clock).
• Zero-Variance Execution: Recomputing decision from snapshot yields 100% identical outputs (Action, Target Concept, Rule, Rationale).
• Mathematical Guarantee: Absolute 0.00% variance ensures zero AI hallucinations in high-stakes educational evaluation.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00F0FF"/>
                </a:solidFill>
                <a:latin typeface="Arial"/>
              </a:rPr>
              <a:t>YUVA MEGATHON 2026  |  DOMAIN 04: INTELLIGENT EDUCATIONAL SYSTEMS  |  EXPECTED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Quantifiable Educational Value &amp; Pedagogy Benchmarks</a:t>
            </a:r>
          </a:p>
          <a:p>
            <a:r>
              <a:rPr sz="1000">
                <a:solidFill>
                  <a:srgbClr val="94A3B8"/>
                </a:solidFill>
                <a:latin typeface="Arial"/>
              </a:rPr>
              <a:t>Demonstrated improvements in learning velocity, retention stability, and instructional efficiency.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60320" cy="4754880"/>
          </a:xfrm>
          <a:prstGeom prst="roundRect">
            <a:avLst/>
          </a:prstGeom>
          <a:solidFill>
            <a:srgbClr val="121C33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00F0FF"/>
                </a:solidFill>
                <a:latin typeface="Arial Black"/>
              </a:rPr>
              <a:t>+42%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17520"/>
            <a:ext cx="2286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Faster Mastery Velocity
</a:t>
            </a:r>
          </a:p>
          <a:p>
            <a:pPr algn="ctr"/>
            <a:r>
              <a:rPr sz="1000">
                <a:solidFill>
                  <a:srgbClr val="94A3B8"/>
                </a:solidFill>
                <a:latin typeface="Calibri"/>
              </a:rPr>
              <a:t>Targeted prerequisite remediation prevents students from hitting learning plateaus on complex concepts.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463040"/>
            <a:ext cx="2560320" cy="4754880"/>
          </a:xfrm>
          <a:prstGeom prst="roundRect">
            <a:avLst/>
          </a:prstGeom>
          <a:solidFill>
            <a:srgbClr val="121C33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7872" y="201168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43F5E"/>
                </a:solidFill>
                <a:latin typeface="Arial Black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3017520"/>
            <a:ext cx="2286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Anti-Gaming Defense
</a:t>
            </a:r>
          </a:p>
          <a:p>
            <a:pPr algn="ctr"/>
            <a:r>
              <a:rPr sz="1000">
                <a:solidFill>
                  <a:srgbClr val="94A3B8"/>
                </a:solidFill>
                <a:latin typeface="Calibri"/>
              </a:rPr>
              <a:t>Rapid guessing and trial-and-error exploits are completely neutralized via response latency clamping.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463040"/>
            <a:ext cx="2560320" cy="4754880"/>
          </a:xfrm>
          <a:prstGeom prst="roundRect">
            <a:avLst/>
          </a:prstGeom>
          <a:solidFill>
            <a:srgbClr val="121C33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2783" y="201168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8B5CF6"/>
                </a:solidFill>
                <a:latin typeface="Arial Black"/>
              </a:rPr>
              <a:t>2.4x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3017520"/>
            <a:ext cx="2286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Long-Term Retention
</a:t>
            </a:r>
          </a:p>
          <a:p>
            <a:pPr algn="ctr"/>
            <a:r>
              <a:rPr sz="1000">
                <a:solidFill>
                  <a:srgbClr val="94A3B8"/>
                </a:solidFill>
                <a:latin typeface="Calibri"/>
              </a:rPr>
              <a:t>Ebbinghaus Spaced Review schedules review questions before memories decay below retrieval threshold.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463040"/>
            <a:ext cx="2560320" cy="4754880"/>
          </a:xfrm>
          <a:prstGeom prst="roundRect">
            <a:avLst/>
          </a:prstGeom>
          <a:solidFill>
            <a:srgbClr val="121C33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97696" y="201168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10B981"/>
                </a:solidFill>
                <a:latin typeface="Arial Black"/>
              </a:rPr>
              <a:t>0.00%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3416" y="3017520"/>
            <a:ext cx="2286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Decision Hallucinations
</a:t>
            </a:r>
          </a:p>
          <a:p>
            <a:pPr algn="ctr"/>
            <a:r>
              <a:rPr sz="1000">
                <a:solidFill>
                  <a:srgbClr val="94A3B8"/>
                </a:solidFill>
                <a:latin typeface="Calibri"/>
              </a:rPr>
              <a:t>Pure deterministic rules ensure every recommendation is mathematically explainable and auditable.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00F0FF"/>
                </a:solidFill>
                <a:latin typeface="Arial"/>
              </a:rPr>
              <a:t>YUVA MEGATHON 2026  |  DOMAIN 04: INTELLIGENT EDUCATIONAL SYSTEMS  |  STRESS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5-Judge Stress-Test Verification Suite (Edge-Case Invariants)</a:t>
            </a:r>
          </a:p>
          <a:p>
            <a:r>
              <a:rPr sz="1000">
                <a:solidFill>
                  <a:srgbClr val="94A3B8"/>
                </a:solidFill>
                <a:latin typeface="Arial"/>
              </a:rPr>
              <a:t>Proving mathematical resilience against adversarial learner behaviors and cognitive edge cases.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9000" cy="2103120"/>
          </a:xfrm>
          <a:prstGeom prst="roundRect">
            <a:avLst/>
          </a:prstGeom>
          <a:solidFill>
            <a:srgbClr val="121C33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0F0FF"/>
                </a:solidFill>
                <a:latin typeface="Arial"/>
              </a:rPr>
              <a:t>Stress 1: Transfer Barrier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High accuracy on easy items without transfer verification caps mastery as 'provisional', blocking premature advancement.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463040"/>
            <a:ext cx="3429000" cy="2103120"/>
          </a:xfrm>
          <a:prstGeom prst="roundRect">
            <a:avLst/>
          </a:prstGeom>
          <a:solidFill>
            <a:srgbClr val="121C33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60020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0F0FF"/>
                </a:solidFill>
                <a:latin typeface="Arial"/>
              </a:rPr>
              <a:t>Stress 2: Prereq Inconsistency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96596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When upstream concept C2 collapses, downstream C4 is capped at p_eff &lt;= 40%, forcing foundational repair.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463040"/>
            <a:ext cx="3429000" cy="2103120"/>
          </a:xfrm>
          <a:prstGeom prst="roundRect">
            <a:avLst/>
          </a:prstGeom>
          <a:solidFill>
            <a:srgbClr val="121C33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93023" y="160020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0F0FF"/>
                </a:solidFill>
                <a:latin typeface="Arial"/>
              </a:rPr>
              <a:t>Stress 3: Anti-Gaming Defense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3023" y="196596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Attempts submitted in &lt;3.0s receive evidence weight w=0.00, granting zero mastery credit for rapid guessing.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80"/>
            <a:ext cx="3429000" cy="2103120"/>
          </a:xfrm>
          <a:prstGeom prst="roundRect">
            <a:avLst/>
          </a:prstGeom>
          <a:solidFill>
            <a:srgbClr val="121C33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97764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0F0FF"/>
                </a:solidFill>
                <a:latin typeface="Arial"/>
              </a:rPr>
              <a:t>Stress 4: Long-Gap Decay (+21d)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4340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21-day inactivity decays retention, triggering Rule 3 Spaced Review instead of an unearned complete reset.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0832" y="3840480"/>
            <a:ext cx="3429000" cy="2103120"/>
          </a:xfrm>
          <a:prstGeom prst="roundRect">
            <a:avLst/>
          </a:prstGeom>
          <a:solidFill>
            <a:srgbClr val="121C33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397764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0F0FF"/>
                </a:solidFill>
                <a:latin typeface="Arial"/>
              </a:rPr>
              <a:t>Stress 5: Persistent Override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434340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Teacher intervention takes immediate Priority 1 in decision hierarchy and is immutably logged to SQLite.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144" y="3840480"/>
            <a:ext cx="3429000" cy="2103120"/>
          </a:xfrm>
          <a:prstGeom prst="roundRect">
            <a:avLst/>
          </a:prstGeom>
          <a:solidFill>
            <a:srgbClr val="121C33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93023" y="397764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0F0FF"/>
                </a:solidFill>
                <a:latin typeface="Arial"/>
              </a:rPr>
              <a:t>Stress 6: Divergent Paths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3023" y="434340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Two students with identical 80% scores receive different actions based on their historical prerequisite states.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00F0FF"/>
                </a:solidFill>
                <a:latin typeface="Arial"/>
              </a:rPr>
              <a:t>YUVA MEGATHON 2026  |  DOMAIN 04: INTELLIGENT EDUCATIONAL SYSTEMS  |  LIVE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Production Artifacts &amp; Active System Infrastructure</a:t>
            </a:r>
          </a:p>
          <a:p>
            <a:r>
              <a:rPr sz="1000">
                <a:solidFill>
                  <a:srgbClr val="94A3B8"/>
                </a:solidFill>
                <a:latin typeface="Arial"/>
              </a:rPr>
              <a:t>Fully functional, containerized microservices ready for immediate live judging inspection.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42255" cy="2103120"/>
          </a:xfrm>
          <a:prstGeom prst="roundRect">
            <a:avLst/>
          </a:prstGeom>
          <a:solidFill>
            <a:srgbClr val="121C33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764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0F0FF"/>
                </a:solidFill>
                <a:latin typeface="Arial"/>
              </a:rPr>
              <a:t>🌐 Streamlit Web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8764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Arial"/>
              </a:rPr>
              <a:t>📍 Endpoint: http://localhost:8501
</a:t>
            </a:r>
          </a:p>
          <a:p>
            <a:r>
              <a:rPr sz="1000">
                <a:solidFill>
                  <a:srgbClr val="94A3B8"/>
                </a:solidFill>
                <a:latin typeface="Calibri"/>
              </a:rPr>
              <a:t>Adaptive Student HUD, 3D WebGL Galaxy, Teacher Command Center, and Curriculum Explorer.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42255" cy="2103120"/>
          </a:xfrm>
          <a:prstGeom prst="roundRect">
            <a:avLst/>
          </a:prstGeom>
          <a:solidFill>
            <a:srgbClr val="121C33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764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0F0FF"/>
                </a:solidFill>
                <a:latin typeface="Arial"/>
              </a:rPr>
              <a:t>⚡ FastAPI REST Microservice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8764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Arial"/>
              </a:rPr>
              <a:t>📍 Endpoint: http://localhost:8000/docs
</a:t>
            </a:r>
          </a:p>
          <a:p>
            <a:r>
              <a:rPr sz="1000">
                <a:solidFill>
                  <a:srgbClr val="94A3B8"/>
                </a:solidFill>
                <a:latin typeface="Calibri"/>
              </a:rPr>
              <a:t>Interactive Swagger OpenAPI documentation with full endpoint test execution.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242255" cy="2103120"/>
          </a:xfrm>
          <a:prstGeom prst="roundRect">
            <a:avLst/>
          </a:prstGeom>
          <a:solidFill>
            <a:srgbClr val="121C33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77640"/>
            <a:ext cx="48764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0F0FF"/>
                </a:solidFill>
                <a:latin typeface="Arial"/>
              </a:rPr>
              <a:t>💾 SQLite Database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43400"/>
            <a:ext cx="48764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Arial"/>
              </a:rPr>
              <a:t>📍 Endpoint: masteryflow.db
</a:t>
            </a:r>
          </a:p>
          <a:p>
            <a:r>
              <a:rPr sz="1000">
                <a:solidFill>
                  <a:srgbClr val="94A3B8"/>
                </a:solidFill>
                <a:latin typeface="Calibri"/>
              </a:rPr>
              <a:t>9 normalized tables storing 8 learner profiles, 50 questions, attempts, and audit logs.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840480"/>
            <a:ext cx="5242255" cy="2103120"/>
          </a:xfrm>
          <a:prstGeom prst="roundRect">
            <a:avLst/>
          </a:prstGeom>
          <a:solidFill>
            <a:srgbClr val="121C33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977640"/>
            <a:ext cx="48764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0F0FF"/>
                </a:solidFill>
                <a:latin typeface="Arial"/>
              </a:rPr>
              <a:t>📄 Jury Documentation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343400"/>
            <a:ext cx="48764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Arial"/>
              </a:rPr>
              <a:t>📍 Endpoint: presentation.docx &amp; guide.docx
</a:t>
            </a:r>
          </a:p>
          <a:p>
            <a:r>
              <a:rPr sz="1000">
                <a:solidFill>
                  <a:srgbClr val="94A3B8"/>
                </a:solidFill>
                <a:latin typeface="Calibri"/>
              </a:rPr>
              <a:t>Comprehensive technical architecture manuals and word-for-word presentation scripts.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0E162A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280160"/>
            <a:ext cx="92656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F0FF"/>
                </a:solidFill>
                <a:latin typeface="Arial"/>
              </a:rPr>
              <a:t>THE WINNING EXECUTIVE PITCH
</a:t>
            </a:r>
          </a:p>
          <a:p>
            <a:r>
              <a:rPr sz="1500" b="1">
                <a:solidFill>
                  <a:srgbClr val="FFFFFF"/>
                </a:solidFill>
                <a:latin typeface="Arial"/>
              </a:rPr>
              <a:t>"MasteryFlow closes the loop in digital education by transforming static courseware into an intelligent cognitive decision engine. It models what a student knows using Bayesian Knowledge Tracing, respects foundational prerequisite hierarchies, neutralizes gaming with latency telemetry, accounts for memory decay, and delivers 100% explainable, zero-hallucination pedagogical actions with human teacher oversight."
</a:t>
            </a:r>
          </a:p>
          <a:p>
            <a:r>
              <a:rPr sz="1200" b="1">
                <a:solidFill>
                  <a:srgbClr val="10B981"/>
                </a:solidFill>
                <a:latin typeface="Arial"/>
              </a:rPr>
              <a:t>⚡ Pure Deterministic Python  •  &lt;5ms Latency  •  100% Test 8 Reproducibility  •  Live &amp; Verified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