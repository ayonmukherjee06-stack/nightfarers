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4DABF-7507-4B5D-B691-9415D187A84B}" v="5" dt="2026-09-19T18:50:46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on Mukherjee" userId="ccb9e39366188688" providerId="LiveId" clId="{F48AD3EA-1A96-49D4-BCD5-18565269C908}"/>
    <pc:docChg chg="undo custSel modSld">
      <pc:chgData name="Ayon Mukherjee" userId="ccb9e39366188688" providerId="LiveId" clId="{F48AD3EA-1A96-49D4-BCD5-18565269C908}" dt="2026-09-19T18:51:13.260" v="256" actId="255"/>
      <pc:docMkLst>
        <pc:docMk/>
      </pc:docMkLst>
      <pc:sldChg chg="modSp mod">
        <pc:chgData name="Ayon Mukherjee" userId="ccb9e39366188688" providerId="LiveId" clId="{F48AD3EA-1A96-49D4-BCD5-18565269C908}" dt="2026-09-19T18:51:13.260" v="256" actId="255"/>
        <pc:sldMkLst>
          <pc:docMk/>
          <pc:sldMk cId="0" sldId="256"/>
        </pc:sldMkLst>
        <pc:spChg chg="mod">
          <ac:chgData name="Ayon Mukherjee" userId="ccb9e39366188688" providerId="LiveId" clId="{F48AD3EA-1A96-49D4-BCD5-18565269C908}" dt="2026-09-19T18:50:08.531" v="234" actId="20577"/>
          <ac:spMkLst>
            <pc:docMk/>
            <pc:sldMk cId="0" sldId="256"/>
            <ac:spMk id="65" creationId="{00000000-0000-0000-0000-000000000000}"/>
          </ac:spMkLst>
        </pc:spChg>
        <pc:spChg chg="mod">
          <ac:chgData name="Ayon Mukherjee" userId="ccb9e39366188688" providerId="LiveId" clId="{F48AD3EA-1A96-49D4-BCD5-18565269C908}" dt="2026-09-19T18:51:13.260" v="256" actId="255"/>
          <ac:spMkLst>
            <pc:docMk/>
            <pc:sldMk cId="0" sldId="256"/>
            <ac:spMk id="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351c26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fb351c26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351c26f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9" name="Google Shape;79;g3fb351c26f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51c26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2" name="Google Shape;92;g3fb351c26f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351c26f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5" name="Google Shape;105;g3fb351c26f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351c26f3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fb351c26f3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351c26f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1" name="Google Shape;131;g3fb351c26f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351c26f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4" name="Google Shape;144;g3fb351c26f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351c26f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7" name="Google Shape;157;g3fb351c26f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351c26f3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0" name="Google Shape;170;g3fb351c26f3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351c26f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3" name="Google Shape;183;g3fb351c26f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351c26f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6" name="Google Shape;196;g3fb351c26f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7" name="Google Shape;57;p1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33075" y="181610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61" name="Google Shape;61;p13"/>
          <p:cNvSpPr txBox="1"/>
          <p:nvPr/>
        </p:nvSpPr>
        <p:spPr>
          <a:xfrm>
            <a:off x="4927275" y="18796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62" name="Google Shape;62;p1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79400" y="1000000"/>
            <a:ext cx="8585000" cy="550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Calibri"/>
              </a:defRPr>
            </a:pPr>
            <a:r>
              <a:t>SYNAPSE-EDU : CLOSED-LOOP EDUCATIONAL INTELLIGENCE PLATFORM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Adaptive Learning  |  Voice-First AI Viva  |  Teacher Cohort Intelligence  |  Automated Remediation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9400" y="1650000"/>
            <a:ext cx="4150000" cy="2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2920" rtlCol="0" anchor="ctr"/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Team name: Nightfarers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>
                <a:solidFill>
                  <a:schemeClr val="tx1"/>
                </a:solidFill>
              </a:rPr>
              <a:t>Team members: Ayon Mukherjee, Shubham Mallick, Shreyash Jha, Soham Choudhury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>
                <a:solidFill>
                  <a:schemeClr val="tx1"/>
                </a:solidFill>
              </a:rPr>
              <a:t>College/organization: SRM Institute of Science and Technology Trichy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>
                <a:solidFill>
                  <a:schemeClr val="tx1"/>
                </a:solidFill>
              </a:rPr>
              <a:t>Team leader/contact: Ayon Mukherjee / 8102429090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20000" y="1780000"/>
            <a:ext cx="1800000" cy="30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TEAM DETAILS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14000" y="1650000"/>
            <a:ext cx="4150000" cy="2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2920" rtlCol="0" anchor="ctr"/>
          <a:lstStyle/>
          <a:p>
            <a:pPr lvl="0"/>
            <a:endParaRPr lang="en-US" sz="1000" b="1" dirty="0">
              <a:solidFill>
                <a:schemeClr val="tx1"/>
              </a:solidFill>
            </a:endParaRPr>
          </a:p>
          <a:p>
            <a:pPr lvl="0"/>
            <a:endParaRPr lang="en-US" sz="1000" dirty="0">
              <a:solidFill>
                <a:schemeClr val="tx1"/>
              </a:solidFill>
            </a:endParaRPr>
          </a:p>
          <a:p>
            <a:pPr lvl="0"/>
            <a:r>
              <a:rPr lang="en-US" dirty="0">
                <a:solidFill>
                  <a:schemeClr val="tx1"/>
                </a:solidFill>
              </a:rPr>
              <a:t>Track name: </a:t>
            </a:r>
            <a:r>
              <a:rPr lang="en-US" dirty="0" err="1">
                <a:solidFill>
                  <a:schemeClr val="tx1"/>
                </a:solidFill>
              </a:rPr>
              <a:t>EduGenAI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Problem statement </a:t>
            </a:r>
            <a:r>
              <a:rPr lang="en-US" sz="1000" dirty="0">
                <a:solidFill>
                  <a:schemeClr val="tx1"/>
                </a:solidFill>
              </a:rPr>
              <a:t>: </a:t>
            </a:r>
            <a:r>
              <a:rPr lang="en-IN" sz="1200" dirty="0">
                <a:solidFill>
                  <a:schemeClr val="tx1"/>
                </a:solidFill>
              </a:rPr>
              <a:t>Due to a 1:100 faculty-to-student ratio, regular 1-on-1 oral vivas are impossible, leaving students stuck in passive rote learning and copy-paste cheating.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Consequently, professors only discover critical conceptual misconceptions after semester exam results—when it is already too late for timely remediation.</a:t>
            </a:r>
          </a:p>
          <a:p>
            <a:br>
              <a:rPr lang="en-IN" sz="1000" dirty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endParaRPr sz="950" b="0" dirty="0">
              <a:solidFill>
                <a:schemeClr val="tx1"/>
              </a:solidFill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850000" y="1780000"/>
            <a:ext cx="2200000" cy="30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TRACK &amp;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1" name="Google Shape;71;p1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Problem Statement: The Broken Educational Feedback Loop</a:t>
            </a:r>
            <a:endParaRPr b="1"/>
          </a:p>
        </p:txBody>
      </p:sp>
      <p:sp>
        <p:nvSpPr>
          <p:cNvPr id="76" name="Google Shape;76;p1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279400" y="1500000"/>
            <a:ext cx="272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0" rIns="137160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Passive Courseware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70% Knowledge Drop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Students passively consume static PDFs &amp; PPTs without personalized pacing or dynamic conceptual breakdown.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Forces rote memorization rather than deep intuitive problem-solving.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9400" y="1620000"/>
            <a:ext cx="1000000" cy="260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PAIN 01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09400" y="1500000"/>
            <a:ext cx="272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0" rIns="137160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Viva Bottleneck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1:100 Professor Ratio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Oral viva tests true conceptual mastery, but professors cannot conduct 15-minute 1-on-1 vivas for 100+ students regularly.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Leads to high student anxiety and zero low-stakes verbal practice.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359400" y="1620000"/>
            <a:ext cx="1000000" cy="26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PAIN 02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39400" y="1500000"/>
            <a:ext cx="272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0" rIns="137160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Blind Remediation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Delayed Diagnostics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Teachers only discover misconceptions weeks later in semester finals—when it is too late for timely pedagogical intervention.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No automated way to identify cohort-wide learning flaws.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89400" y="1620000"/>
            <a:ext cx="1000000" cy="26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PAIN 03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9400" y="4050000"/>
            <a:ext cx="8585000" cy="550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284C7"/>
                </a:solidFill>
                <a:latin typeface="Calibri"/>
              </a:defRPr>
            </a:pPr>
            <a:r>
              <a:t>WHY IT MATTERS: Bloom's 2-Sigma Mastery Imperative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1-on-1 personalized tutoring elevates student outcomes by 2 standard deviations (98th percentile). SynapseEdu automates this closed loop at zero marginal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84" name="Google Shape;84;p15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Proposed Solution: The Closed-Loop Architecture</a:t>
            </a:r>
            <a:endParaRPr b="1"/>
          </a:p>
        </p:txBody>
      </p:sp>
      <p:sp>
        <p:nvSpPr>
          <p:cNvPr id="89" name="Google Shape;89;p15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279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Calibri"/>
              </a:defRPr>
            </a:pPr>
            <a:r>
              <a:t>INGESTION</a:t>
            </a:r>
          </a:p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Curriculum RAG Engine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Teacher uploads PDF/PPT/Text notes.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LangChain chunks text &amp; embeds with Gemini text-embedding-004 into FAISS vector index.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79400" y="1600000"/>
            <a:ext cx="1100000" cy="26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STEP 01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474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Calibri"/>
              </a:defRPr>
            </a:pPr>
            <a:r>
              <a:t>ADAPTATION</a:t>
            </a:r>
          </a:p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Concept Transformer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Re-articulates complex curriculum dynamically.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Tailors mathematical depth, tone, and real-world analogies to individual student baseline.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74400" y="1600000"/>
            <a:ext cx="1100000" cy="26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STEP 02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669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Calibri"/>
              </a:defRPr>
            </a:pPr>
            <a:r>
              <a:t>VIVA EXAM</a:t>
            </a:r>
          </a:p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Voice Socratic Viva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Real-time oral assessment via Google STT.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Gemini asks progressive Socratic follow-ups to probe reasoning depth and catch rote guessing.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69400" y="1600000"/>
            <a:ext cx="1100000" cy="26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STEP 03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64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Calibri"/>
              </a:defRPr>
            </a:pPr>
            <a:r>
              <a:t>REMEDIATE</a:t>
            </a:r>
          </a:p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Teacher Copilot Loop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Auto-generates 5-min remediation for score &lt; 60%.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• Surfaces cohort misconception heatmaps for instructor classroom intervention.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64400" y="1600000"/>
            <a:ext cx="1100000" cy="26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STEP 04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79400" y="4050000"/>
            <a:ext cx="8585000" cy="550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THE CLOSED LOOP: Learn -&gt; Voice Viva -&gt; Misconception Diagnostic -&gt; Instant Remediation -&gt; Teacher Action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Ensures no student gets left behind while giving educators continuous real-time diagnostic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7" name="Google Shape;97;p16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Innovation &amp; Uniqueness: How We Stand Apart</a:t>
            </a:r>
            <a:endParaRPr b="1"/>
          </a:p>
        </p:txBody>
      </p:sp>
      <p:sp>
        <p:nvSpPr>
          <p:cNvPr id="102" name="Google Shape;102;p16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279400" y="1500000"/>
          <a:ext cx="8585000" cy="2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333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Chatbots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LMS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Quizlet / Anki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SynapseEdu (Ours)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3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Courseware RAG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Manual paste / Hallucinates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semantic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Static card decks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Automated Multi-Format RAG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3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Oral Assessment / AI Viva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 (Text prompt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 (Rigid MCQ)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 (Flashcards)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Voice Socratic Viva (STT)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33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Root Misconception Profiling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Generic text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Right / Wrong score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Binary recall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Cognitive Misconception Map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3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Automated Micro-Remediation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Requires manual prompt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 (Manual teacher work)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Repeat static card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Auto 5-Min Remediation Lesson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3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Teacher Cohort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 (Consumer tool)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Basic gradebook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Live Real-Time Concept Heatmaps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" name="Rounded Rectangle 103"/>
          <p:cNvSpPr/>
          <p:nvPr/>
        </p:nvSpPr>
        <p:spPr>
          <a:xfrm>
            <a:off x="279400" y="4050000"/>
            <a:ext cx="8585000" cy="55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CORE ARCHITECTURAL EDGE: Pedagogical Integrity &amp; Anti-Cheating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Oral voice vivas prevent AI copy-paste cheating while testing genuine articulation and cognitive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0" name="Google Shape;110;p17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Target Users: Transforming the Educational Ecosystem</a:t>
            </a:r>
            <a:endParaRPr b="1"/>
          </a:p>
        </p:txBody>
      </p:sp>
      <p:sp>
        <p:nvSpPr>
          <p:cNvPr id="115" name="Google Shape;115;p17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279400" y="1500000"/>
            <a:ext cx="415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84048" rIns="137160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Higher Ed &amp; Engineering Students</a:t>
            </a:r>
          </a:p>
          <a:p>
            <a:pPr>
              <a:defRPr sz="900" b="1">
                <a:solidFill>
                  <a:srgbClr val="0284C7"/>
                </a:solidFill>
                <a:latin typeface="Calibri"/>
              </a:defRPr>
            </a:pPr>
            <a:r>
              <a:t>Primary Learner &amp; Test Taker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Practice technical lab vivas and campus placement interviews on-demand.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Experience low-stakes oral defense with zero judgment and instant micro-remediation.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29400" y="1600000"/>
            <a:ext cx="1600000" cy="2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PERSONA 01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714000" y="1500000"/>
            <a:ext cx="415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84048" rIns="137160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Professors &amp; Teaching Assistants</a:t>
            </a:r>
          </a:p>
          <a:p>
            <a:pPr>
              <a:defRPr sz="900" b="1">
                <a:solidFill>
                  <a:srgbClr val="4F46E5"/>
                </a:solidFill>
                <a:latin typeface="Calibri"/>
              </a:defRPr>
            </a:pPr>
            <a:r>
              <a:t>Course Creator &amp; Evaluator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Eliminates 15+ hours/week spent on repetitive oral grading and manual quiz creation.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Real-time class heatmaps reveal exactly which lecture concepts failed to register.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64000" y="1600000"/>
            <a:ext cx="1600000" cy="24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PERSONA 02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79400" y="3080000"/>
            <a:ext cx="415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84048" rIns="137160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Academic Deans &amp; Institutions</a:t>
            </a:r>
          </a:p>
          <a:p>
            <a:pPr>
              <a:defRPr sz="900" b="1">
                <a:solidFill>
                  <a:srgbClr val="059669"/>
                </a:solidFill>
                <a:latin typeface="Calibri"/>
              </a:defRPr>
            </a:pPr>
            <a:r>
              <a:t>Continuous Assessment &amp; Accreditation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Fulfill Outcome-Based Education (OBE) and continuous assessment compliance.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Early-warning indicators identify struggling students weeks before mid-term/final exams.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9400" y="3180000"/>
            <a:ext cx="1600000" cy="24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PERSONA 03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714000" y="3080000"/>
            <a:ext cx="415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84048" rIns="137160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Competitive Exam &amp; Certification Aspirants</a:t>
            </a:r>
          </a:p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GATE / GRE / Tech Upskilling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Rigorous active recall practice through conversational Socratic interrogation.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Deep conceptual mastery of algorithms, circuits, mathematics, and systems design.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864000" y="3180000"/>
            <a:ext cx="1600000" cy="24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PERSONA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3" name="Google Shape;123;p18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Key Features: 6 Pillars of Intelligent Tutoring</a:t>
            </a:r>
            <a:endParaRPr b="1"/>
          </a:p>
        </p:txBody>
      </p:sp>
      <p:sp>
        <p:nvSpPr>
          <p:cNvPr id="128" name="Google Shape;128;p18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279400" y="150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RAG Courseware Ingestion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PyPDF2 &amp; LangChain parsing of PDFs, slides, and notes into FAISS vector embeddings.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99400" y="1600000"/>
            <a:ext cx="1200000" cy="2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FEATURE 01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209400" y="150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Adaptive Concept Transformer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Dynamic re-explanation of concepts with analogies tailored to student history.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329400" y="1600000"/>
            <a:ext cx="1200000" cy="24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FEATURE 02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139400" y="150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Voice Socratic AI Viva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Low-latency oral examination via Google STT and Gemini with progressive follow-ups.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59400" y="1600000"/>
            <a:ext cx="1200000" cy="24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FEATURE 03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79400" y="308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Multi-Metric Evaluator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Scores answers on conceptual precision, missing principles, and reasoning depth.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99400" y="3180000"/>
            <a:ext cx="1200000" cy="240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FEATURE 04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209400" y="308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5-Min Remediation Trigger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Auto-synthesizes micro-lessons whenever concept mastery falls below 60%.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329400" y="3180000"/>
            <a:ext cx="1200000" cy="24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FEATURE 05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139400" y="308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Teacher Copilot Heatmap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Live class cohort analytics, topic mastery distributions, and one-click remediation.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259400" y="3180000"/>
            <a:ext cx="1200000" cy="24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FEATURE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6" name="Google Shape;136;p19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Technology Stack: Robust Full-Stack AI Architecture</a:t>
            </a:r>
            <a:endParaRPr b="1"/>
          </a:p>
        </p:txBody>
      </p:sp>
      <p:sp>
        <p:nvSpPr>
          <p:cNvPr id="141" name="Google Shape;141;p19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279400" y="150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Core Logic &amp; Web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Python 3.10+ (AI pipeline &amp; async services)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TypeScript / JavaScript (ES6+ Web UI)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SQL (Mastery Profile Store)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99400" y="1600000"/>
            <a:ext cx="1300000" cy="2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209400" y="150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Modern Full-Stack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FastAPI (High-concurrency async Python backend)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React.js (Component-driven responsive SPA)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TailwindCSS (Accessible UI components)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329400" y="1600000"/>
            <a:ext cx="1300000" cy="24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FRAMEWORKS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39400" y="150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000" b="1">
                <a:solidFill>
                  <a:srgbClr val="E11D48"/>
                </a:solidFill>
                <a:latin typeface="Calibri"/>
              </a:defRPr>
            </a:pPr>
            <a:r>
              <a:t>Generative Reasoning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Google Gemini 1.5 / 2.0 Flash API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Gemini text-embedding-004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BAAI bge-small (Local Vector Fallback)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259400" y="1600000"/>
            <a:ext cx="1300000" cy="240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AI / ML MODELS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79400" y="308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Low-Latency Speech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Google Cloud Speech-to-Text (STT) API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Browser Web Speech API (Low-latency)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WebRTC &amp; MediaRecorder Stream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99400" y="3180000"/>
            <a:ext cx="1300000" cy="24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VOICE &amp; MULTIMODAL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209400" y="308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Semantic Search &amp; Data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FAISS (Sub-50ms vector similarity index)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ChromaDB (Persistent vector store)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MySQL / Firebase (Student mastery graphs)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329400" y="3180000"/>
            <a:ext cx="1300000" cy="24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VECTOR &amp; DATABASE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139400" y="3080000"/>
            <a:ext cx="272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84048" rIns="109728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Production DevOps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LangChain &amp; PyPDF2 (Chunking pipelines)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Docker containerization</a:t>
            </a:r>
          </a:p>
          <a:p>
            <a:pPr>
              <a:spcBef>
                <a:spcPts val="100"/>
              </a:spcBef>
              <a:defRPr sz="819">
                <a:solidFill>
                  <a:srgbClr val="334155"/>
                </a:solidFill>
                <a:latin typeface="Calibri"/>
              </a:defRPr>
            </a:pPr>
            <a:r>
              <a:t>• Google Cloud Run / Vercel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259400" y="3180000"/>
            <a:ext cx="1300000" cy="24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DEPLOY &amp; TOOLING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9" name="Google Shape;149;p20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Implementation Plan: 36-Hour Hackathon Roadmap</a:t>
            </a:r>
            <a:endParaRPr b="1"/>
          </a:p>
        </p:txBody>
      </p:sp>
      <p:sp>
        <p:nvSpPr>
          <p:cNvPr id="154" name="Google Shape;154;p20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55" name="Rounded Rectangle 154"/>
          <p:cNvSpPr/>
          <p:nvPr/>
        </p:nvSpPr>
        <p:spPr>
          <a:xfrm>
            <a:off x="279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Phase 1: Foundation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FastAPI scaffold &amp; API schemas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PDF text extraction via PyPDF2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LangChain chunking &amp; FAISS index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79400" y="1600000"/>
            <a:ext cx="1400000" cy="26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HOURS 00 - 08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474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Phase 2: Voice Viva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Google STT voice recording in React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Gemini Socratic viva prompt chains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Multi-metric answer scoring logic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574400" y="1600000"/>
            <a:ext cx="1400000" cy="26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HOURS 08 - 18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669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Phase 3: Remediation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Auto 5-min micro-lesson synthesis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Concept mastery profile in DB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Remediation trigger for score &lt; 60%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769400" y="1600000"/>
            <a:ext cx="1400000" cy="26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HOURS 18 - 28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864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38912" r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Phase 4: Copilot &amp; MVP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Teacher class mastery heatmap UI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End-to-end integration &amp; testing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2-minute demo video &amp; pitch polish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964400" y="1600000"/>
            <a:ext cx="1400000" cy="26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HOURS 28 - 36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9400" y="4050000"/>
            <a:ext cx="8585000" cy="55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MINIMUM VIABLE PROTOTYPE (MVP SCOPE AT 36 HOURS)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100% Working Closed Loop: Teacher uploads PDF -&gt; Student takes 3-question voice viva -&gt; Real-time scoring -&gt; Instant 5-min remediation lesson -&gt; Live teacher cohort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2" name="Google Shape;162;p21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Expected Impact: Quantifiable Educational Value</a:t>
            </a:r>
            <a:endParaRPr b="1"/>
          </a:p>
        </p:txBody>
      </p:sp>
      <p:sp>
        <p:nvSpPr>
          <p:cNvPr id="167" name="Google Shape;167;p21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68" name="Rounded Rectangle 167"/>
          <p:cNvSpPr/>
          <p:nvPr/>
        </p:nvSpPr>
        <p:spPr>
          <a:xfrm>
            <a:off x="279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Ins="109728" rtlCol="0" anchor="ctr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80% RETENTION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Active Recall vs Reading</a:t>
            </a:r>
          </a:p>
          <a:p>
            <a:pPr>
              <a:spcBef>
                <a:spcPts val="6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Verbal articulation under Socratic questioning dramatically boosts long-term conceptual retention over passive reading.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474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Ins="109728" rtlCol="0" anchor="ctr"/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90% TIME SAVED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Teacher Grading Overhead</a:t>
            </a:r>
          </a:p>
          <a:p>
            <a:pPr>
              <a:spcBef>
                <a:spcPts val="6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Automates continuous oral viva diagnostics, freeing instructors to focus on high-leverage 1-on-1 student mentorship.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669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Ins="109728" rtlCol="0" anchor="ctr"/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100% REAL-TIME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Instant Remediation</a:t>
            </a:r>
          </a:p>
          <a:p>
            <a:pPr>
              <a:spcBef>
                <a:spcPts val="6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Identifies and repairs root misconceptions immediately with 5-minute micro-lessons before exams approach.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864400" y="1500000"/>
            <a:ext cx="2000000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Ins="109728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Calibri"/>
              </a:defRPr>
            </a:pPr>
            <a:r>
              <a:t>ZERO COST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NEP 2020 Democratization</a:t>
            </a:r>
          </a:p>
          <a:p>
            <a:pPr>
              <a:spcBef>
                <a:spcPts val="6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Delivers Ivy-League-level 1-on-1 Socratic tutoring to Tier-2, Tier-3, and rural institutions at negligible marginal cost.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79400" y="4050000"/>
            <a:ext cx="8585000" cy="550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284C7"/>
                </a:solidFill>
                <a:latin typeface="Calibri"/>
              </a:defRPr>
            </a:pPr>
            <a:r>
              <a:t>POLICY &amp; INDUSTRY IMPACT: National Education Policy (NEP 2020) &amp; Placement Readiness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Fulfills continuous competency-based evaluation mandates while preparing engineering students for rigorous technical placement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5" name="Google Shape;175;p22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Feasibility &amp; Risk Mitigation: Engineering Rigor</a:t>
            </a:r>
            <a:endParaRPr b="1"/>
          </a:p>
        </p:txBody>
      </p:sp>
      <p:sp>
        <p:nvSpPr>
          <p:cNvPr id="180" name="Google Shape;180;p22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279400" y="1500000"/>
            <a:ext cx="4150000" cy="3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75488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100% Achievable Within Hackathon Sprint: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</a:rPr>
              <a:t>• Decoupled Microservices: </a:t>
            </a:r>
            <a:r>
              <a:rPr sz="900" b="0">
                <a:solidFill>
                  <a:srgbClr val="334155"/>
                </a:solidFill>
              </a:rPr>
              <a:t>FastAPI endpoints (/upload, /viva, /evaluate, /analytics) allow backend and frontend to build concurrently.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</a:rPr>
              <a:t>• Turnkey Google AI SDKs: </a:t>
            </a:r>
            <a:r>
              <a:rPr sz="900" b="0">
                <a:solidFill>
                  <a:srgbClr val="334155"/>
                </a:solidFill>
              </a:rPr>
              <a:t>Gemini API and Google Cloud STT eliminate custom ML training time, enabling 100% focus on RAG pipelines.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</a:rPr>
              <a:t>• Pre-Built Tailwind UI: </a:t>
            </a:r>
            <a:r>
              <a:rPr sz="900" b="0">
                <a:solidFill>
                  <a:srgbClr val="334155"/>
                </a:solidFill>
              </a:rPr>
              <a:t>React component library enables rapid responsive assembly of student and teacher interfaces in under 8 hours.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20000" y="1620000"/>
            <a:ext cx="2200000" cy="28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WHY 36H FEASIBLE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714000" y="1500000"/>
            <a:ext cx="4150000" cy="3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75488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Identified Technical Risks &amp; Solutions: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D97706"/>
                </a:solidFill>
              </a:rPr>
              <a:t>• Speech Recognition Latency: </a:t>
            </a:r>
            <a:r>
              <a:rPr sz="900" b="0">
                <a:solidFill>
                  <a:srgbClr val="334155"/>
                </a:solidFill>
              </a:rPr>
              <a:t>Mitigated via browser-native Web Speech API with seamless fallback to Google Cloud STT.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D97706"/>
                </a:solidFill>
              </a:rPr>
              <a:t>• Vector DB Overhead: </a:t>
            </a:r>
            <a:r>
              <a:rPr sz="900" b="0">
                <a:solidFill>
                  <a:srgbClr val="334155"/>
                </a:solidFill>
              </a:rPr>
              <a:t>In-memory FAISS vector index guarantees sub-50ms local embedding retrieval without external cluster lag.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D97706"/>
                </a:solidFill>
              </a:rPr>
              <a:t>• LLM Hallucination Risk: </a:t>
            </a:r>
            <a:r>
              <a:rPr sz="900" b="0">
                <a:solidFill>
                  <a:srgbClr val="334155"/>
                </a:solidFill>
              </a:rPr>
              <a:t>Strict RAG context injection and low temperature (T &lt;= 0.2) ensure viva questions stay grounded in syllabus.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850000" y="1620000"/>
            <a:ext cx="2400000" cy="28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RISK &amp; MITIGATION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8" name="Google Shape;188;p2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Prototype &amp; System Architecture Flow</a:t>
            </a:r>
            <a:endParaRPr b="1"/>
          </a:p>
        </p:txBody>
      </p:sp>
      <p:sp>
        <p:nvSpPr>
          <p:cNvPr id="193" name="Google Shape;193;p2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279400" y="1500000"/>
            <a:ext cx="3600000" cy="3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0" rIns="137160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Artifacts &amp; References: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284C7"/>
                </a:solidFill>
              </a:rPr>
              <a:t>• GitHub Repository: </a:t>
            </a:r>
            <a:r>
              <a:rPr sz="850" b="0">
                <a:solidFill>
                  <a:srgbClr val="334155"/>
                </a:solidFill>
              </a:rPr>
              <a:t>FastAPI backend &amp; React SPA with OpenAPI schemas and prompt definitions.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284C7"/>
                </a:solidFill>
              </a:rPr>
              <a:t>• Figma UI Prototype: </a:t>
            </a:r>
            <a:r>
              <a:rPr sz="850" b="0">
                <a:solidFill>
                  <a:srgbClr val="334155"/>
                </a:solidFill>
              </a:rPr>
              <a:t>Interactive mockups of Student Voice Viva Portal &amp; Teacher Heatmap.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284C7"/>
                </a:solidFill>
              </a:rPr>
              <a:t>• Live Demo Video: </a:t>
            </a:r>
            <a:r>
              <a:rPr sz="850" b="0">
                <a:solidFill>
                  <a:srgbClr val="334155"/>
                </a:solidFill>
              </a:rPr>
              <a:t>2-minute demonstration of full PDF ingestion to voice viva to remediation.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284C7"/>
                </a:solidFill>
              </a:rPr>
              <a:t>• Bloom's 2-Sigma Study: </a:t>
            </a:r>
            <a:r>
              <a:rPr sz="850" b="0">
                <a:solidFill>
                  <a:srgbClr val="334155"/>
                </a:solidFill>
              </a:rPr>
              <a:t>Mastery learning via continuous 1-on-1 tutoring.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284C7"/>
                </a:solidFill>
              </a:rPr>
              <a:t>• RAG (Lewis et al.): </a:t>
            </a:r>
            <a:r>
              <a:rPr sz="850" b="0">
                <a:solidFill>
                  <a:srgbClr val="334155"/>
                </a:solidFill>
              </a:rPr>
              <a:t>Retrieval-augmented grounding for hallucination-free academic evaluation.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420000" y="1620000"/>
            <a:ext cx="2200000" cy="28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PROJECT DELIVERABLES</a:t>
            </a:r>
          </a:p>
        </p:txBody>
      </p:sp>
      <p:pic>
        <p:nvPicPr>
          <p:cNvPr id="196" name="Picture 195" descr="architecture_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0000" y="1500000"/>
            <a:ext cx="4810000" cy="30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p2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279400" y="980000"/>
            <a:ext cx="8585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Calibri"/>
              </a:defRPr>
            </a:pPr>
            <a:r>
              <a:t>Executive Pitch: Transforming Education</a:t>
            </a:r>
            <a:endParaRPr b="1"/>
          </a:p>
        </p:txBody>
      </p:sp>
      <p:sp>
        <p:nvSpPr>
          <p:cNvPr id="206" name="Google Shape;206;p2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207" name="Rounded Rectangle 206"/>
          <p:cNvSpPr/>
          <p:nvPr/>
        </p:nvSpPr>
        <p:spPr>
          <a:xfrm>
            <a:off x="279400" y="1500000"/>
            <a:ext cx="8585000" cy="14000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438912" rIns="182880" rtlCol="0" anchor="ctr"/>
          <a:lstStyle/>
          <a:p>
            <a:pPr algn="ctr">
              <a:defRPr sz="1300" b="1" i="1">
                <a:solidFill>
                  <a:srgbClr val="0284C7"/>
                </a:solidFill>
                <a:latin typeface="Calibri"/>
              </a:defRPr>
            </a:pPr>
            <a:r>
              <a:t>"SynapseEdu closes the loop in education by transforming static courseware into adaptive voice-driven AI vivas, diagnosing root misconceptions in real time, and empowering teachers with automated cohort intelligence and instant remediation."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20000" y="1600000"/>
            <a:ext cx="1800000" cy="28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THE ONE-LINE PITCH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79400" y="3050000"/>
            <a:ext cx="2720000" cy="1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0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Active Oral Mastery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Conquers viva anxiety through private on-demand voice practice, receiving instant targeted 5-minute micro-lessons.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29400" y="3150000"/>
            <a:ext cx="1400000" cy="2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FOR STUDENTS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3209400" y="3050000"/>
            <a:ext cx="2720000" cy="1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0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90% Grading Relief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Automates continuous diagnostic assessment while live heatmaps spotlight exactly which concepts require in-class focus.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3359400" y="3150000"/>
            <a:ext cx="1400000" cy="24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FOR EDUCATORS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6139400" y="3050000"/>
            <a:ext cx="2720000" cy="1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0" rIns="109728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Accredited OBE Quality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Continuous Outcome-Based Education (OBE) and NBA/NAAC compliance metrics delivered across large batches at zero marginal cost.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6289400" y="3150000"/>
            <a:ext cx="1400000" cy="24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FOR INSTITUTIONS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</Words>
  <Application>Microsoft Office PowerPoint</Application>
  <PresentationFormat>On-screen Show (16:9)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Impact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Ayon Mukherjee</cp:lastModifiedBy>
  <cp:revision>1</cp:revision>
  <dcterms:modified xsi:type="dcterms:W3CDTF">2026-09-19T18:51:16Z</dcterms:modified>
</cp:coreProperties>
</file>