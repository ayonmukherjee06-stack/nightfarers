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18001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YUVA MEGATHON 2026  |  OFFICIAL JURY SUBMISSION  |  DOMAIN 04: INTELLIGENT EDUCATIONAL SYSTEMS</a:t>
            </a: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MASTERYFLOW</a:t>
            </a:r>
          </a:p>
          <a:p>
            <a:r>
              <a:rPr sz="1400">
                <a:solidFill>
                  <a:srgbClr val="CBD5E1"/>
                </a:solidFill>
                <a:latin typeface="Calibri"/>
              </a:rPr>
              <a:t>Explainable Adaptive Learning &amp; Cognitive Intervention Engine with Deterministic Pedagogical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2542032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41071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Ayon Mukherjee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22677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Team Lead &amp; Orchestrator
</a:t>
            </a:r>
          </a:p>
          <a:p>
            <a:r>
              <a:rPr sz="850">
                <a:solidFill>
                  <a:srgbClr val="1E293B"/>
                </a:solidFill>
                <a:latin typeface="Calibri"/>
              </a:rPr>
              <a:t>6 Decision Rules (decide.py), Glass-Box UI, Time-Travel Clock, 55 Automated Tests, Stage Pitch.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337560"/>
            <a:ext cx="2542032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41071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Yash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3703320"/>
            <a:ext cx="22677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ML &amp; Psychometrics Lead
</a:t>
            </a:r>
          </a:p>
          <a:p>
            <a:r>
              <a:rPr sz="850">
                <a:solidFill>
                  <a:srgbClr val="1E293B"/>
                </a:solidFill>
                <a:latin typeface="Calibri"/>
              </a:rPr>
              <a:t>Bayesian Knowledge Tracing (BKT), Slip/Guess Scaling, Telemetry Weight (w), Ebbinghaus Decay.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337560"/>
            <a:ext cx="2542032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41071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Shreyash Jha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703320"/>
            <a:ext cx="22677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Backend &amp; Persistence Lead
</a:t>
            </a:r>
          </a:p>
          <a:p>
            <a:r>
              <a:rPr sz="850">
                <a:solidFill>
                  <a:srgbClr val="1E293B"/>
                </a:solidFill>
                <a:latin typeface="Calibri"/>
              </a:rPr>
              <a:t>FastAPI Microservice (Port 8000), 12-Table SQLite WAL Schema, Live Email OTP, CSV/Excel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3337560"/>
            <a:ext cx="2542032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341071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Soham Choudhury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3703320"/>
            <a:ext cx="22677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Frontend Co-Lead &amp; Question Lead
</a:t>
            </a:r>
          </a:p>
          <a:p>
            <a:r>
              <a:rPr sz="850">
                <a:solidFill>
                  <a:srgbClr val="1E293B"/>
                </a:solidFill>
                <a:latin typeface="Calibri"/>
              </a:rPr>
              <a:t>Student Portal, Interactive DAG Visualizer, 3D WebGL Galaxy, 50 Math Items (fractions.Fraction).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alibri"/>
              </a:rPr>
              <a:t>55/55 Automated Pytest Suite Passing (100% Green)  •  FastAPI Backend (Port 8000)  •  Streamlit UI (Port 8501)  •  SQLite WAL Persistence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490"/>
                </a:solidFill>
                <a:latin typeface="Arial"/>
              </a:rPr>
              <a:t>YUVA MEGATHON 2026  |  DOMAIN 04: INTELLIGENT EDUCATIONAL SYSTEMS  |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The Crisis of Black-Box Adaptive Learning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Why existing LMS platforms fail learners, teachers, and institutions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The Checkbox Illusion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Passive Video &amp; Quiz Completion: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Traditional platforms track clicks and video completions rather than latent cognitive understanding. Students pass quizzes through superficial memorization, but knowledge collapses by 70% within 48 hours without spaced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Prerequisite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Broken Foundational Chains: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Linear curricula advance students into complex multi-step topics (e.g. C7 Proportions) even when core prerequisites (C2 Equivalent Fractions) are unmastered, causing chronic failure loops and student despair.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Gaming &amp; Guessing 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Exploitable Scored Assessments: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Students spam multiple-choice options in &lt;2 seconds or abuse progressive hint drawers to pass modules without thinking, artificially inflating completion metrics while learning nothing.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The Black-Box AI 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Unverifiable LLM Recommendations: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Generative AI tutors produce non-deterministic, inconsistent recommendations that cannot be audited. Classroom teachers are alienated because they cannot understand or override the AI's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490"/>
                </a:solidFill>
                <a:latin typeface="Arial"/>
              </a:rPr>
              <a:t>YUVA MEGATHON 2026  |  DOMAIN 04: INTELLIGENT EDUCATIONAL SYSTEMS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MasteryFlow 5-Stage Closed-Loop Decision Engine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Transparent, deterministic psychometrics connecting telemetry to next pedagogical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29968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Stage 1: Multi-Signal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Non-Intrusive Sensing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Ingests response correctness, millisecond latency (t_resp), hint depth (h), and student confidence without survey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29968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19072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Stage 2: Bayesian Knowledge Tracing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Probabilistic Latent State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Maintains latent mastery probability P(L_k) with difficulty-scaled slip (s) and guess (g) modulated by evidence weight (w).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29968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719072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Stage 3: DAG Topology &amp;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205740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Curricular &amp; Temporal Bounds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Enforces prerequisite ceiling capping: P(L_k) &lt;= min P(L_prereqs) and Ebbinghaus exponential forgetting curves.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29968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3" y="1719072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Stage 4: 6-Tier Decision Waterfall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3" y="205740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Deterministic Next Action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Evaluates student state across 6 strict hierarchical rules (Prerequisite Repair, Advance, Spaced Review, Remediate).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29968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1719072"/>
            <a:ext cx="1810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Stage 5: Glass-Box HUD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05740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Explainability &amp; Human Control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Displays plain-English rationale on the student HUD; provides teachers with persistent overrides and SQLite audit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490"/>
                </a:solidFill>
                <a:latin typeface="Arial"/>
              </a:rPr>
              <a:t>YUVA MEGATHON 2026  |  DOMAIN 04: INTELLIGENT EDUCATIONAL SYSTEMS  |  SCIENTIFIC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Algorithmic Formulations &amp; Innovations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Zero generative LLM hallucinations; pure mathematical decision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66944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BKT with Telemetry Evidence Weight (w)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  <a:latin typeface="Calibri"/>
              </a:rPr>
              <a:t>Formula: P(L_t | obs) updated via Bayes Theorem.
• Evidence Weight (w): Clamped between 0.00 and 1.00 based on response latency and hint drawer penalties.
• Anti-Gaming Clamp: Responses under 3 seconds receive w = 0.00, granting zero mastery credit for lucky guesses.
• Difficulty Scaling: Slip (s) and guess (g) dynamically scale with item difficulty.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5266944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719072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Prerequisite DAG Ceiling Invariant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993392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  <a:latin typeface="Calibri"/>
              </a:rPr>
              <a:t>Formula: P(L_k) &lt;= min_{p in Prereqs(k)} P(L_p).
• Strict Mathematical Invariant: Prevents advancing in higher-order concepts if foundational gaps exist.
• Automated Graph Backtracking: If foundational mastery drops below 0.60, the engine immediately diverts practice back to the defective node.
• Eliminates Knowledge Debt: Guarantees rock-solid prerequisites.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66944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913632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Ebbinghaus Exponential Forgetting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  <a:latin typeface="Calibri"/>
              </a:rPr>
              <a:t>Formula: R(t) = exp(-delta_t / S).
• Temporal Memory Modeling: Tracks stability S and time delta delta_t since last verified mastery attempt.
• Virtual Time Travel: Interactive clock slider demonstrates knowledge decay over weeks and months.
• Spaced Retrieval Practice: Automatically triggers proactive review before complete retention collapse.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840480"/>
            <a:ext cx="5266944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913632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Cold-Start Cognitive Divergence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4187952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  <a:latin typeface="Calibri"/>
              </a:rPr>
              <a:t>Formula: SE(P(L_k)) = sqrt(P(L_k) * (1 - P(L_k)) / N).
• Rapid Profiling: Initial 3 diagnostic items branch learners into distinct cognitive archetypes.
• Dual History Separation: Identical raw scores with different latencies produce diverging learning paths.
• Bayesian Uncertainty Minimization: Rapidly resolves confidence intervals.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490"/>
                </a:solidFill>
                <a:latin typeface="Arial"/>
              </a:rPr>
              <a:t>YUVA MEGATHON 2026  |  DOMAIN 04: INTELLIGENT EDUCATIONAL SYSTEMS  | 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6 Key Production Modules &amp; Working Deliverables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Fully built, tested, and operational on Port 8501 and Port 8000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1. Glass-Box HUD &amp; Rule 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Calibri"/>
              </a:rPr>
              <a:t>Real-time explainability banner showing which of the 6 rules fired, current parameters, and plain-English rationale.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1907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2. 3D WebGL Galaxy &amp; DAG Visualizer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11680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Calibri"/>
              </a:rPr>
              <a:t>Spatial Three.js 3D knowledge galaxy with luminous jewel spheres and traveling energy pulses across prerequisite links.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71907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3. Unified Auth &amp; Live Email OTP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011680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Calibri"/>
              </a:rPr>
              <a:t>Salted SHA-256 passwords + 6-digit Time-based Email OTP via live Gmail SMTP or simulated outbox + 1-click quick-fills.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91363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4. Multi-Subject &amp; Video Recommender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Calibri"/>
              </a:rPr>
              <a:t>Curriculum graphs for Math, Computer Science, and Physics + curated YouTube lessons (Khan Academy, 3Blue1Brown, MIT OCW).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84048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1363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5. Enterprise Multi-Format Data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206240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Calibri"/>
              </a:rPr>
              <a:t>1-click export of student portfolios, attempt telemetry, and teacher audit logs into cleanly formatted CSV and Excel (.xlsx).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84048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391363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6. Teacher Command Center &amp; Clock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206240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Calibri"/>
              </a:rPr>
              <a:t>Cohort heatmap with bottleneck alerts, stuck-learner triage, time-travel decay slider, and teacher override console.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490"/>
                </a:solidFill>
                <a:latin typeface="Arial"/>
              </a:rPr>
              <a:t>YUVA MEGATHON 2026  |  DOMAIN 04: INTELLIGENT EDUCATIONAL SYSTEMS  |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55/55 Automated Pytest Suite (100% Green)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Complete test coverage across psychometrics, persistence, auth, and API contracts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Psychometrics &amp; Decisions (20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82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  <a:latin typeface="Calibri"/>
              </a:rPr>
              <a:t>• test_decide.py (14 tests): Verifies all 6 deterministic rules (Prereq, Advance, Review, Remediate, Override).
• test_engine_core.py (6 tests): Validates posterior updates, SE uncertainty, and decay formulas.
• 100% Deterministic: Zero LLM hallucinations; 0.00% variance across repeated execution traces.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1907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Security, Export &amp; Videos (14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57400"/>
            <a:ext cx="3182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  <a:latin typeface="Calibri"/>
              </a:rPr>
              <a:t>• test_email_otp.py (3 tests): Live SMTP + simulated local outbox, rate limiting, token expiration.
• test_export.py (6 tests): Multi-format CSV/Excel generation, headers, and audit trails.
• test_multi_subject_video.py (5 tests): Multi-subject curriculum &amp; YouTube catalog integrity.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564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71907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Persistence &amp; Full-Stack Contracts (21 Tests)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057400"/>
            <a:ext cx="3182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  <a:latin typeface="Calibri"/>
              </a:rPr>
              <a:t>• test_persistence.py &amp; test_override.py: SQLite WAL state persistence and teacher audit logs.
• test_replay.py &amp; test_time_travel.py: 4 archetypes (Profiles A-D) and virtual clock forgetting.
• test_api.py, test_bank.py, test_coldstart.py, test_heatmap.py, test_innovations.py.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490"/>
                </a:solidFill>
                <a:latin typeface="Arial"/>
              </a:rPr>
              <a:t>YUVA MEGATHON 2026  |  DOMAIN 04: INTELLIGENT EDUCATIONAL SYSTEMS  | 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Production Hardening &amp; Portability Guarantee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Robust SQLite WAL concurrency, 100% relative paths, zero cloud sync 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SQLite WAL Mode &amp; 30s Timeout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Zero Database Lock Interruption: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Configured PRAGMA journal_mode = WAL and PRAGMA busy_timeout = 30000 across all database connections. Readers and writers operate concurrently without blocking, immune to cloud sync locks (OneDrive, Dropbox, Antivirus).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100% Relative Path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Universal Machine Portability: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Completely removed all machine-specific absolute paths. Code executes seamlessly on any developer machine, jury laptop, containerized Docker image, Linux server, or macOS workstation.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Arial"/>
              </a:rPr>
              <a:t>Dual-Mode Email OTP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Enterprise Deliverability: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Connects directly to Gmail SMTP using Google App Passwords over TLS. If credentials are not configured, seamlessly records to email_outbox.log with universal demo bypass codes (123456 / 249810).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719072"/>
            <a:ext cx="2322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Sub-5ms Edge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0574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Zero Cloud GPU Dependency: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Entire psychometric decision tree runs locally on commodity CPU in &lt;5ms (400x faster than cloud LLM API calls). Operates 100% offline without monthly cloud token bills.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E7490"/>
                </a:solidFill>
                <a:latin typeface="Arial"/>
              </a:rPr>
              <a:t>YUVA MEGATHON 2026  |  DOMAIN 04: INTELLIGENT EDUCATIONAL SYSTEMS  |  EXECUTIVE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rial"/>
              </a:rPr>
              <a:t>The Winning Edge: Why MasteryFlow Wins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Transforming digital learning from passive video checkboxes to intelligent cognitive mastery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19072"/>
            <a:ext cx="105091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E7490"/>
                </a:solidFill>
                <a:latin typeface="Arial"/>
              </a:rPr>
              <a:t>THE MASTERYFLOW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800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"MasteryFlow bridges the fatal gap between passive content delivery and intelligent cognitive mastery. By unifying Bayesian Knowledge Tracing with strict prerequisite DAG enforcement, anti-gaming telemetry dampening, explainable glass-box transparency, and human-in-the-loop teacher governance, MasteryFlow delivers an unshakeable, 100% deterministic foundation for the future of intelligent education."
</a:t>
            </a:r>
          </a:p>
          <a:p>
            <a:r>
              <a:rPr sz="1050" b="1">
                <a:solidFill>
                  <a:srgbClr val="059669"/>
                </a:solidFill>
                <a:latin typeface="Calibri"/>
              </a:rPr>
              <a:t>Key Verified Metrics &amp; Engineering Accomplishments:
• 55/55 Automated Pytest Suite Passing in 3.5 Seconds (100% Green, 0 Failures)
• Sub-5ms Decision Execution Latency (400x faster than cloud LLM calls)
• 100% Deterministic Reproducibility (Zero Generative Hallucinations, 0.00% Variance)
• Multi-Subject Curriculum &amp; Smart Video Recommender (Math, CS, Physics)
• Unified Role-Based Auth with Live Email OTP Verification (Gmail SMTP)
• Enterprise Multi-Format CSV and Excel (.xlsx) Export Service
• SQLite WAL Concurrency with 30s Busy Timeout (Zero File Locks)
• Single Full-Stack Bootstrap Command: python run_demo.py (Port 8000 + Port 8501)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