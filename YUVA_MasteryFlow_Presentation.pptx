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351c26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351c26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351c26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351c26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51c26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351c26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351c26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b351c26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351c26f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351c26f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351c26f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b351c26f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351c26f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351c26f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351c26f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b351c26f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351c26f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351c26f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351c26f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351c26f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351c26f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b351c26f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7" name="Google Shape;57;p1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65760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Arial"/>
              </a:rPr>
              <a:t>55/55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Automated Pytest Units (100% Green)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96312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42032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Arial"/>
              </a:rPr>
              <a:t>&lt; 5 ms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Decision Latency (400x vs LLMs)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26864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72584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0.00%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Output Variance (Deterministic)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57416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03136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12 Tables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ACID SQLite WAL (Zero Lock)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444752"/>
            <a:ext cx="406908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" y="1517904"/>
            <a:ext cx="38496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TEAM NIGHTFARERS  |  ENGINEERING OWNERSHIP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1783080"/>
            <a:ext cx="3794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• Ayon Mukherjee </a:t>
            </a:r>
            <a:r>
              <a:rPr sz="750" b="1">
                <a:solidFill>
                  <a:srgbClr val="0E7490"/>
                </a:solidFill>
                <a:latin typeface="Calibri"/>
              </a:rPr>
              <a:t>[Team Lead &amp; Orchestrator]
</a:t>
            </a:r>
            <a:r>
              <a:rPr sz="700">
                <a:solidFill>
                  <a:srgbClr val="1E293B"/>
                </a:solidFill>
                <a:latin typeface="Calibri"/>
              </a:rPr>
              <a:t>  6 Deterministic Rules (decide.py), Glass-Box HUD, Time-Travel Clock, 55 Tests, Stage Pitch Defense.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• Yash </a:t>
            </a:r>
            <a:r>
              <a:rPr sz="750" b="1">
                <a:solidFill>
                  <a:srgbClr val="0E7490"/>
                </a:solidFill>
                <a:latin typeface="Calibri"/>
              </a:rPr>
              <a:t>[ML &amp; Psychometrics Lead]
</a:t>
            </a:r>
            <a:r>
              <a:rPr sz="700">
                <a:solidFill>
                  <a:srgbClr val="1E293B"/>
                </a:solidFill>
                <a:latin typeface="Calibri"/>
              </a:rPr>
              <a:t>  Bayesian Knowledge Tracing (BKT), Difficulty Slip/Guess, Telemetry Weight (w), Ebbinghaus Decay.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• Shreyash Jha </a:t>
            </a:r>
            <a:r>
              <a:rPr sz="750" b="1">
                <a:solidFill>
                  <a:srgbClr val="0E7490"/>
                </a:solidFill>
                <a:latin typeface="Calibri"/>
              </a:rPr>
              <a:t>[Backend &amp; Persistence Lead]
</a:t>
            </a:r>
            <a:r>
              <a:rPr sz="700">
                <a:solidFill>
                  <a:srgbClr val="1E293B"/>
                </a:solidFill>
                <a:latin typeface="Calibri"/>
              </a:rPr>
              <a:t>  FastAPI Microservice (Port 8000), 12-Table SQLite WAL Schema, Live Email OTP, CSV/Excel Export.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• Soham Choudhury </a:t>
            </a:r>
            <a:r>
              <a:rPr sz="750" b="1">
                <a:solidFill>
                  <a:srgbClr val="0E7490"/>
                </a:solidFill>
                <a:latin typeface="Calibri"/>
              </a:rPr>
              <a:t>[Frontend Co-Lead &amp; Question Bank]
</a:t>
            </a:r>
            <a:r>
              <a:rPr sz="700">
                <a:solidFill>
                  <a:srgbClr val="1E293B"/>
                </a:solidFill>
                <a:latin typeface="Calibri"/>
              </a:rPr>
              <a:t>  Student Adaptive Experience, Interactive DAG Visualizer, 3D WebGL Galaxy, 50 Math Items.
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26280" y="1444752"/>
            <a:ext cx="425196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36008" y="1517904"/>
            <a:ext cx="4032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TRACK DETAILS &amp; ARCHITECTURAL GUARANTEES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3440" y="1783080"/>
            <a:ext cx="39776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Arial"/>
              </a:rPr>
              <a:t>Track: EduGenAI | Domain 04: Intelligent Educational Systems
</a:t>
            </a:r>
          </a:p>
          <a:p>
            <a:r>
              <a:rPr sz="750">
                <a:solidFill>
                  <a:srgbClr val="1E293B"/>
                </a:solidFill>
                <a:latin typeface="Calibri"/>
              </a:rPr>
              <a:t>Core Deliverables &amp; Production Guarantees:
1. Zero Generative Hallucinations: Pure mathematical rule waterfall.
2. Anti-Gaming Guard: Sub-3s rapid guesses clamped to w = 0.00.
3. Prerequisite DAG Capping: Forces foundational repair before advance.
4. Longitudinal Memory Decay: Ebbinghaus Spaced Review after 21 days.
5. Dual-Mode Email Auth: Salted SHA-256 + 6-digit Live Email OTP (Gmail SMTP).
6. Multi-Subject Expansion: Math, Computer Science, and Physics DAGs.
7. Hardened Persistence: SQLite WAL mode + 30s timeout (zero sync locks).
8. Single Bootstrap Command: python run_demo.py (Port 8000 + Port 8501).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1" name="Google Shape;71;p1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365760" y="960120"/>
            <a:ext cx="8412480" cy="3840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E11D48"/>
                </a:solidFill>
                <a:latin typeface="Arial"/>
              </a:rPr>
              <a:t>CRITICAL PROBLEM: Digital learning platforms are static content warehouses tracking clicks instead of true cognitive mastery.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1417320"/>
            <a:ext cx="26974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The Checkbox Illusion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08760" y="1481328"/>
            <a:ext cx="1417320" cy="2011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0876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70% RETENTION DROP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178308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Passive Courseware: Platforms assume 100% video completion or quiz checkboxes equal understanding.
• No Latent Estimation: Cannot distinguish lucky guesses from genuine conceptual mastery.
• Forgetting Curve Collapse: Without spaced retrieval practice, knowledge collapses in 48 hours.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400" y="1417320"/>
            <a:ext cx="26974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1012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Prerequisite Blindness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43400" y="1481328"/>
            <a:ext cx="141732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4340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ZERO GRAPH RIGOR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178308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Broken Dependency Chains: Students attempt complex topics (e.g. C7 Proportions) while foundational basics (C2 Fractions) are broken.
• Chronic Failure Plateaus: Forcing advanced items on defective basics leads to student despair.
• No Graph Enforcement: Standard LMS has zero topological prerequisite hierarchy.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35040" y="1417320"/>
            <a:ext cx="26974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4476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Gaming &amp; Black-Box AI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178040" y="1481328"/>
            <a:ext cx="141732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7804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&lt; 3S RAPID GUESSES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178308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Rapid-Fire Guessing: Students spam multiple-choice options in &lt;2s to brute-force pass quizzes.
• Hint Drawer Exploitation: Abusing hints without cognitive thinking artificially inflates scores.
• LLM Hallucinations: Generic chatbot tutors offer unverifiable, non-deterministic advice.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4133087"/>
            <a:ext cx="8412480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" y="4169663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Arial"/>
              </a:rPr>
              <a:t>TRADITIONAL LMS: Passive Video Clicks ➔ Linear Advance ➔ Zero Graph Invariants ➔ 70% Dropouts
</a:t>
            </a:r>
          </a:p>
          <a:p>
            <a:r>
              <a:rPr sz="750" b="1">
                <a:solidFill>
                  <a:srgbClr val="059669"/>
                </a:solidFill>
                <a:latin typeface="Arial"/>
              </a:rPr>
              <a:t>MASTERYFLOW: Multi-Signal Telemetry ➔ Bayesian Tracing ➔ Prerequisite DAG Capping ➔ 100% Explainable Mastery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84" name="Google Shape;84;p15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365760" y="960120"/>
            <a:ext cx="841248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978408"/>
            <a:ext cx="8412480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THE 5-STAGE CLOSED-LOOP COGNITIVE DECISION ENGINE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57200" y="1463040"/>
            <a:ext cx="1444752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Telemetry Sensing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Ingests accuracy, millisecond latency (t_resp), hint requests (h), &amp; streak momentum.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66544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157984" y="1463040"/>
            <a:ext cx="1444752" cy="25603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57984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57984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BKT Learner State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57984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Updates latent mastery P(L_k) via Bayes Theorem scaled by difficulty slip/guess &amp; weight w.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767328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858768" y="1463040"/>
            <a:ext cx="144475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858768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58768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DAG &amp; Decay Bounds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58768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Enforces prerequisite ceiling: P(L_k) &lt;= min P(L_prereqs) &amp; Ebbinghaus memory decay.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468112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559552" y="1463040"/>
            <a:ext cx="144475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59552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59552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6-Tier Waterfall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59552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Deterministic pure-Python decision tree resolves exact next pedagogical action in &lt;5ms.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168896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260336" y="1463040"/>
            <a:ext cx="1444752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0336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60336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HUD &amp; Governance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60336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Real-time Glass-Box explanation card + Teacher Command Center with persistent overrides.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7" name="Google Shape;97;p16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36576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548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BKT + Telemetry Weight (w)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286000" y="1060704"/>
            <a:ext cx="205740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86000" y="1078992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P(L_t | obs) = Bayesian Update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Dynamic Evidence Weight (w): Clamped between 0.00 and 1.00 based on response latency &amp; hint depth.
• Anti-Gaming Clamp: Sub-3s responses clamped to w = 0.00 (zero mastery gain for rapid guessing).
• Difficulty Scaling: Slip (s) and guess (g) scale dynamically with item difficulty parameter.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1772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2744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2. Prerequisite Ceiling Capping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537960" y="1060704"/>
            <a:ext cx="205740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37960" y="1078992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P(L_k) &lt;= min_{p in Prereqs} P(L_p)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5488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Strict Mathematical Invariant: Prevents advancing in higher-order concepts if foundations are broken.
• Automated Graph Backtracking: If foundational mastery drops below 0.60, practice diverts to defective node.
• Eliminates Knowledge Debt: Guarantees solid prerequisites before allowing progression.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548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3. Ebbinghaus Forgetting Curves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286000" y="2871216"/>
            <a:ext cx="2057400" cy="2011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286000" y="2889504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R(t) = exp(-delta_t / S)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Longitudinal Memory Modeling: Tracks stability S and time delta delta_t since last verified mastery attempt.
• Virtual Time Travel: Interactive clock slider simulates knowledge decay over days and weeks.
• Spaced Retrieval Practice: Automatically triggers proactive review before complete retention collapse.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1772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2744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4. Explainable Glass-Box HUD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537960" y="2871216"/>
            <a:ext cx="205740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37960" y="2889504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100% Deterministic Waterfall (&lt;5ms)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5488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6 Ordered Decision Rules: Evaluates state across strict hierarchy (Prereq, Advance, Review, Remediate).
• Zero Generative Hallucinations: 0.00% variance across repeated executions.
• Transparent Governance: Shows student exact rationale; teachers override via SQLite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0" name="Google Shape;110;p17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36576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7548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Struggling &amp; Anxious Learners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560320" y="1060704"/>
            <a:ext cx="178308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560320" y="1078992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3.4x Faster Gap Remediation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Transparent Explanations: Clear Glass-Box rationale eliminates test anxiety.
• Student Agency: Learners can request alternative practice topics with self-reflection.
• Curated Videos: Instant access to targeted video explanations when stuck.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61772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2744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2. Classroom Teachers &amp; Mentors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812280" y="1060704"/>
            <a:ext cx="178308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12280" y="1078992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100% Human Override Authority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5488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Cohort Heatmap: Identifies systemic curriculum bottlenecks across students.
• Stuck-Learner Queue: Surfaces students trapped in prerequisite loops.
• Human Overrides: Teachers override algorithmic decisions with immutable audit log.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6576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548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3. School Admins &amp; Academic Boards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560320" y="2871216"/>
            <a:ext cx="178308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560320" y="2889504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0 Rs Cloud GPU Billing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Enterprise Data Export: Multi-format CSV and Excel (.xlsx) portfolio reports.
• Accreditation Proof: Verifiable competency audit trails for standards compliance.
• Zero Cloud GPU Costs: Runs on commodity servers without monthly API bills.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1772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72744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4. EdTech Platforms &amp; Developers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812280" y="2871216"/>
            <a:ext cx="178308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12280" y="2889504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Sub-5ms Execution Latency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5488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Decoupled Architecture: FastAPI microservice integrates into Canvas, Moodle, Blackboard.
• OpenAPI Swagger Docs: Standardized endpoints with comprehensive schemas.
• 55/55 Automated Pytest Suite: CI/CD-ready regression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3" name="Google Shape;123;p18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36576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548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Glass-Box HUD &amp; Rule Waterfall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691640" y="1060704"/>
            <a:ext cx="1234440" cy="1828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91640" y="1078992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100% EXPLAINABLE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1335024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Real-time explanation card detailing triggered rule, parameters, and pedagogical justification.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20040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1012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2. 3D WebGL Galaxy &amp; DAG Tree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26280" y="1060704"/>
            <a:ext cx="1234440" cy="1828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26280" y="1078992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THREE.JS 60 FPS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0128" y="1335024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Interactive Three.js 3D topological knowledge graph with glowing jewel nodes and energy pulses.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03504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14476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3. Unified Auth &amp; Live Email OTP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360920" y="1060704"/>
            <a:ext cx="1234440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360920" y="1078992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GMAIL SMTP TLS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44768" y="1335024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Salted SHA-256 passwords + 6-digit Time-based Email OTP dispatch via Gmail SMTP or simulated outbox.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75488" y="2871216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4. Multi-Subject &amp; Video Catalog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691640" y="2871216"/>
            <a:ext cx="1234440" cy="182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691640" y="2889504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3 SUBJECTS + YOUTUBE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5488" y="3145536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Curriculum graphs for Math, Computer Science, and Physics + curated YouTube lessons (Khan, 3Blue1Brown).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20040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310128" y="2871216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5. Enterprise Data Export Service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526280" y="2871216"/>
            <a:ext cx="1234440" cy="1828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526280" y="2889504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CSV &amp; EXCEL .XLSX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10128" y="3145536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1-click multi-format export of student portfolios, attempt telemetry, and teacher audit logs.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03504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144768" y="2871216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6. Teacher Command Center &amp; Clock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60920" y="2871216"/>
            <a:ext cx="1234440" cy="1828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360920" y="2889504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PERSISTENT OVERRIDES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44768" y="3145536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Cohort heatmap, bottleneck detection, stuck-learner triage, and persistent teacher override console.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6" name="Google Shape;136;p19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279400" y="973450"/>
            <a:ext cx="4140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Technology / Tech Stack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Frameworks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AI/ML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Cloud/platforms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Hardware, if applicable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365760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5488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Backend &amp; API Layer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57200" y="1325880"/>
            <a:ext cx="1847088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FASTAPI (PORT 8000)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Python 3.10 Runtime
• FastAPI REST Microservice
• Uvicorn ASGI Server
• Pydantic v2 Contract Validation
• smtplib SSL/TLS Email Dispatcher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487168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596896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Persistence &amp; Concurrency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578608" y="1325880"/>
            <a:ext cx="1847088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578608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SQLITE WAL (ZERO LOCK)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578608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SQLite Relational Engine
• 12 Normalized Relational Tables
• WAL Mode (journal_mode = WAL)
• 30-Second Busy Timeout
• Immutable Decision Audit Logs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608576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718304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Frontend &amp; Visualizations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700016" y="1325880"/>
            <a:ext cx="1847088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00016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STREAMLIT (PORT 8501)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00016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Streamlit Glassmorphic Portal
• Three.js WebGL 3D Knowledge Galaxy
• Altair &amp; Graphviz Topological DAG
• Responsive Dark Theme Glass CSS
• 1-Click Instant Persona Quick-Fills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729983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39712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Portability &amp; Verification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821423" y="1325880"/>
            <a:ext cx="1847088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821423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55/55 TESTS PASSING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21423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100% Relative Path Architecture
• Zero OneDrive/Cloud Lock Dependency
• 55/55 Automated Pytest Suite
• openpyxl &amp; CSV Multi-Format Exporter
• Bootstrap Script: run_demo.py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9" name="Google Shape;149;p20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55" name="Rounded Rectangle 154"/>
          <p:cNvSpPr/>
          <p:nvPr/>
        </p:nvSpPr>
        <p:spPr>
          <a:xfrm>
            <a:off x="365760" y="960120"/>
            <a:ext cx="841248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59669"/>
                </a:solidFill>
                <a:latin typeface="Arial"/>
              </a:rPr>
              <a:t>VERIFIED RIGOR: 55/55 Automated Pytest Suite Passing in 3.5s across 15 Test Suites (100% Green, Zero Failures)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65760" y="1417320"/>
            <a:ext cx="2697480" cy="3182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7548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Psychometrics Core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508760" y="1481328"/>
            <a:ext cx="141732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50876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20 TESTS VERIFIED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178308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test_decide.py (14 tests): Verifies all 6 deterministic rules (Prereq Repair, Advance, Review, Remediate, Teacher Override).
• test_engine_core.py (6 tests): Validates BKT posterior updates, SE uncertainty, and Ebbinghaus decay formulas.
• Zero Variance: 0.00% output variance across repeated execution traces.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200400" y="1417320"/>
            <a:ext cx="2697480" cy="3182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31012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Security &amp; Exports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343400" y="1481328"/>
            <a:ext cx="141732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34340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14 TESTS VERIFIED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291840" y="178308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test_email_otp.py (3 tests): Live SMTP + simulated local outbox, rate limiting, and 10-minute token expiration.
• test_export.py (6 tests): Multi-format CSV and Excel generation, data headers, and audit trails.
• test_multi_subject_video.py (5 tests): Multi-subject curriculum DAG &amp; YouTube catalog integrity.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35040" y="1417320"/>
            <a:ext cx="2697480" cy="3182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14476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Full-Stack Contracts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178040" y="1481328"/>
            <a:ext cx="141732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7804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21 TESTS VERIFIED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26480" y="178308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test_persistence.py &amp; test_override.py: SQLite WAL state persistence and teacher audit logs.
• test_replay.py &amp; test_time_travel.py: 4 archetypes (Profiles A-D) and virtual clock forgetting.
• test_api.py, test_bank.py, test_coldstart.py, test_heatmap.py, test_innovations.py.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2" name="Google Shape;162;p21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68" name="Rounded Rectangle 167"/>
          <p:cNvSpPr/>
          <p:nvPr/>
        </p:nvSpPr>
        <p:spPr>
          <a:xfrm>
            <a:off x="36576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457200" y="1078992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02920" y="1115568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Arial"/>
              </a:rPr>
              <a:t>3.4x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25880" y="10789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Faster Prerequisite Remediation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75488" y="1536192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Students unblock foundational concept gaps in 4.2 practice items vs 14.5 items in standard linear LMS.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20040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3291840" y="1078992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337560" y="1115568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11D48"/>
                </a:solidFill>
                <a:latin typeface="Arial"/>
              </a:rPr>
              <a:t>88%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60520" y="10789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Guessing Exploitation Neutralized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10128" y="1536192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Sub-3s latency telemetry clamp neutralizes rapid multiple-choice guessing on the very first attempt.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03504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6126480" y="1078992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172200" y="1115568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Arial"/>
              </a:rPr>
              <a:t>100%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995160" y="10789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Pedagogical Explainability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44768" y="1536192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Every action decision is mapped to an explicit mathematical rule with deterministic inputs.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6576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457200" y="2889504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02920" y="2926080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Arial"/>
              </a:rPr>
              <a:t>0.00%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25880" y="288950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Decision Output Variance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75488" y="3346704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Zero LLM generative non-determinism; identical student states produce identical pedagogical paths.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20040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3291840" y="2889504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337560" y="2926080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55/55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60520" y="288950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Automated Pytest Suite Passing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310128" y="3346704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Complete production test coverage across engine, auth, database, export, and API in 3.5 seconds.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03504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6126480" y="2889504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172200" y="2926080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0 Rs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995160" y="288950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Cloud GPU Infrastructure Cost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144768" y="3346704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Embedded SQLite + pure Python engine runs on budget laptops or school servers without monthly API bills.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5" name="Google Shape;175;p22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365760" y="987552"/>
            <a:ext cx="2697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7548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Zero Database Locks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508760" y="1051560"/>
            <a:ext cx="141732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508760" y="1069848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SQLITE WAL MODE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57200" y="1353312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Implemented SQLite WAL Mode (PRAGMA journal_mode = WAL) and 30-second busy timeout.
• Eliminates database locked errors caused by background cloud syncing (OneDrive, Dropbox) or concurrent threads.
• Allows simultaneous readers and writers without blocking or performance degradation.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200400" y="987552"/>
            <a:ext cx="2697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31012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Resilient Email Delivery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343400" y="1051560"/>
            <a:ext cx="141732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343400" y="1069848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TLS + LOCAL FALLBACK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291840" y="1353312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Dual-mode authentication: Connects directly to Gmail SMTP via TLS (Google App Password).
• Graceful Local Fallback: If credentials are not configured, seamlessly writes to email_outbox.log.
• Rate-limited security: 6-digit cryptographic OTPs expire after 10 minutes with universal demo codes.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035040" y="987552"/>
            <a:ext cx="2697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4476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Edge &amp; Offline Readiness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178040" y="1051560"/>
            <a:ext cx="141732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178040" y="1069848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100% RELATIVE PATHS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126480" y="1353312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Universal Portability: Runs anywhere on disk without machine-specific absolute path dependencies.
• Sub-5ms decision execution on low-cost single-board computers (Raspberry Pi) or classroom laptops.
• Operates entirely without internet for core learning, psychometrics, and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8" name="Google Shape;188;p2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36576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7548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Streamlit Web Portal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3291840" y="1060704"/>
            <a:ext cx="105156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291840" y="1078992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PORT 8501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0292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http://localhost:8501
• Student Experience: Glass-box HUD, math chips, telemetry card &amp; agency modal.
• 3D Universe: WebGL Three.js interactive topological knowledge graph.
• Teacher Console: Cohort heatmap, bottleneck alerts, overrides &amp; exports.
• Video Recommender: Curated educational lessons across Math, CS, Physics.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61772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72744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FastAPI Microservice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543800" y="1060704"/>
            <a:ext cx="10515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543800" y="1078992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PORT 8000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http://localhost:8000/docs
• Interactive OpenAPI Swagger documentation with live payload testing.
• Endpoints: POST /api/attempt, GET /api/next-action/{id},
  GET /api/student/{id}/mastery, POST /api/teacher/override,
  GET /api/teacher/heatmap, GET /api/teacher/stuck-learners.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6576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7548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SQLite Relational DB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291840" y="2871216"/>
            <a:ext cx="105156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291840" y="2889504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WAL MODE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292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masteryflow.db
• 12 Normalized relational tables storing concepts, questions, attempts, overrides.
• Pre-seeded with 16 diverse student profiles, 50 math items, and multi-subject DAGs.
• 30s busy timeout + WAL ensures zero lock errors under concurrent load.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61772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72744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Jury Documentation Suite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7543800" y="2871216"/>
            <a:ext cx="105156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543800" y="2889504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55 TESTS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docs/ &amp; tests/
• 55/55 Automated Pytest Suite: Run with python -m pytest.
• Complete architectural specifications, video catalogs, and pitch playbooks.
• Single Bootstrap Command: python run_demo.py boots full-stack in 2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p2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207" name="Rounded Rectangle 206"/>
          <p:cNvSpPr/>
          <p:nvPr/>
        </p:nvSpPr>
        <p:spPr>
          <a:xfrm>
            <a:off x="365760" y="987552"/>
            <a:ext cx="8412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75488" y="1060704"/>
            <a:ext cx="819302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THE WINNING ONE-LINE PITCH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94360" y="1371600"/>
            <a:ext cx="7955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"MasteryFlow closes the loop in digital education by transforming passive courseware into an intelligent cognitive decision engine. It maintains a probabilistic learner model using Bayesian Knowledge Tracing, enforces prerequisite DAG hierarchy, eliminates guessing with latency telemetry, accounts for memory decay, and delivers 100% explainable, zero-hallucination pedagogical actions with human teacher oversight."
</a:t>
            </a:r>
          </a:p>
          <a:p>
            <a:r>
              <a:rPr sz="850" b="1">
                <a:solidFill>
                  <a:srgbClr val="059669"/>
                </a:solidFill>
                <a:latin typeface="Calibri"/>
              </a:rPr>
              <a:t>Key Verified Milestones:
• 55/55 Automated Pytest Suite Passing in 3.5s (100% Green, Zero Failures)
• Sub-5ms Decision Execution Latency (400x faster than cloud LLMs)
• 100% Deterministic Reproducibility (Zero Generative Hallucinations)
• Multi-Subject Curriculum &amp; Smart Video Recommender (Math, CS, Physics)
• Unified Role-Based Auth with Live Email OTP Verification (Gmail SMTP)
• Enterprise Multi-Format CSV/Excel Export &amp; SQLite WAL Hardening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94360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40080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Arial"/>
              </a:rPr>
              <a:t>55/55 TESTS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100% Green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2587752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633472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Arial"/>
              </a:rPr>
              <a:t>&lt; 5 MS LATENCY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Sub-5ms Execution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581144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626864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MULTI-SUBJECT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3 Subjects + Videos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574536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620256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SQLITE WAL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Zero Sync 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